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1" r:id="rId2"/>
    <p:sldId id="2562" r:id="rId3"/>
    <p:sldId id="2563" r:id="rId4"/>
    <p:sldId id="2564" r:id="rId5"/>
    <p:sldId id="2565" r:id="rId6"/>
    <p:sldId id="2566" r:id="rId7"/>
    <p:sldId id="2567" r:id="rId8"/>
    <p:sldId id="2568" r:id="rId9"/>
    <p:sldId id="2569" r:id="rId10"/>
    <p:sldId id="25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st Practices for Securing Shared Source Code Repositories" id="{1DFB319C-1E55-4F60-B68A-B0DC26D2DB99}">
          <p14:sldIdLst>
            <p14:sldId id="2561"/>
            <p14:sldId id="2562"/>
            <p14:sldId id="2563"/>
            <p14:sldId id="2564"/>
            <p14:sldId id="2565"/>
            <p14:sldId id="2566"/>
            <p14:sldId id="2567"/>
            <p14:sldId id="2568"/>
          </p14:sldIdLst>
        </p14:section>
        <p14:section name="Conclusion" id="{BCA26635-DADA-4B1B-900A-92FE18799A3F}">
          <p14:sldIdLst>
            <p14:sldId id="2569"/>
            <p14:sldId id="25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1615D9-4F8A-4E0E-B46E-7FE6BDB6B9F0}" v="15" dt="2025-07-19T22:54:22.2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Cannamela" userId="4029b765494b50cb" providerId="LiveId" clId="{F51615D9-4F8A-4E0E-B46E-7FE6BDB6B9F0}"/>
    <pc:docChg chg="addSld modSld modSection">
      <pc:chgData name="Jacob Cannamela" userId="4029b765494b50cb" providerId="LiveId" clId="{F51615D9-4F8A-4E0E-B46E-7FE6BDB6B9F0}" dt="2025-07-19T22:54:27.513" v="32" actId="12"/>
      <pc:docMkLst>
        <pc:docMk/>
      </pc:docMkLst>
      <pc:sldChg chg="addSp modSp add mod">
        <pc:chgData name="Jacob Cannamela" userId="4029b765494b50cb" providerId="LiveId" clId="{F51615D9-4F8A-4E0E-B46E-7FE6BDB6B9F0}" dt="2025-07-19T22:54:27.513" v="32" actId="12"/>
        <pc:sldMkLst>
          <pc:docMk/>
          <pc:sldMk cId="1164584437" sldId="2570"/>
        </pc:sldMkLst>
        <pc:spChg chg="mod">
          <ac:chgData name="Jacob Cannamela" userId="4029b765494b50cb" providerId="LiveId" clId="{F51615D9-4F8A-4E0E-B46E-7FE6BDB6B9F0}" dt="2025-07-19T22:54:05.068" v="26" actId="1076"/>
          <ac:spMkLst>
            <pc:docMk/>
            <pc:sldMk cId="1164584437" sldId="2570"/>
            <ac:spMk id="2" creationId="{4750147B-F4C0-07CF-B96D-C7CB2F49C72E}"/>
          </ac:spMkLst>
        </pc:spChg>
        <pc:spChg chg="add mod">
          <ac:chgData name="Jacob Cannamela" userId="4029b765494b50cb" providerId="LiveId" clId="{F51615D9-4F8A-4E0E-B46E-7FE6BDB6B9F0}" dt="2025-07-19T22:54:27.513" v="32" actId="12"/>
          <ac:spMkLst>
            <pc:docMk/>
            <pc:sldMk cId="1164584437" sldId="2570"/>
            <ac:spMk id="3" creationId="{33D98A14-779A-58DD-511B-63E08C7AAE71}"/>
          </ac:spMkLst>
        </pc:spChg>
        <pc:spChg chg="add">
          <ac:chgData name="Jacob Cannamela" userId="4029b765494b50cb" providerId="LiveId" clId="{F51615D9-4F8A-4E0E-B46E-7FE6BDB6B9F0}" dt="2025-07-19T22:53:48.883" v="19"/>
          <ac:spMkLst>
            <pc:docMk/>
            <pc:sldMk cId="1164584437" sldId="2570"/>
            <ac:spMk id="4" creationId="{66BF1BDB-A30E-8027-3BC1-F67F39A1E372}"/>
          </ac:spMkLst>
        </pc:spChg>
        <pc:spChg chg="add">
          <ac:chgData name="Jacob Cannamela" userId="4029b765494b50cb" providerId="LiveId" clId="{F51615D9-4F8A-4E0E-B46E-7FE6BDB6B9F0}" dt="2025-07-19T22:54:20.785" v="28"/>
          <ac:spMkLst>
            <pc:docMk/>
            <pc:sldMk cId="1164584437" sldId="2570"/>
            <ac:spMk id="5" creationId="{82F8CC2F-DD75-74A0-C81F-B49591A6351C}"/>
          </ac:spMkLst>
        </pc:spChg>
        <pc:graphicFrameChg chg="mod">
          <ac:chgData name="Jacob Cannamela" userId="4029b765494b50cb" providerId="LiveId" clId="{F51615D9-4F8A-4E0E-B46E-7FE6BDB6B9F0}" dt="2025-07-19T22:53:36.624" v="17" actId="478"/>
          <ac:graphicFrameMkLst>
            <pc:docMk/>
            <pc:sldMk cId="1164584437" sldId="2570"/>
            <ac:graphicFrameMk id="9" creationId="{8EA11C1C-7833-3301-9CD3-D1374295CB22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6DB5CD-D987-4B9D-B43F-3136038B02B7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B300C3-DC55-4520-888A-09F96D7CD65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Comprehensive Security Approach</a:t>
          </a:r>
        </a:p>
      </dgm:t>
    </dgm:pt>
    <dgm:pt modelId="{27C63FF4-8A54-487D-A9A1-D2540F9D56FA}" type="parTrans" cxnId="{92798D86-E257-4024-AF03-A7CDC2EF1498}">
      <dgm:prSet/>
      <dgm:spPr/>
      <dgm:t>
        <a:bodyPr/>
        <a:lstStyle/>
        <a:p>
          <a:endParaRPr lang="en-US"/>
        </a:p>
      </dgm:t>
    </dgm:pt>
    <dgm:pt modelId="{210B4903-E3F4-4F71-8F35-92C1C1B18CD5}" type="sibTrans" cxnId="{92798D86-E257-4024-AF03-A7CDC2EF1498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9D75B5DD-65BF-4CBB-A368-712023CF0A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Effective security requires multiple layers including access control, authentication, and code review.</a:t>
          </a:r>
        </a:p>
      </dgm:t>
    </dgm:pt>
    <dgm:pt modelId="{B752971C-56BC-4EA2-9264-E787EC62BC7F}" type="parTrans" cxnId="{C7681B22-5253-4F5B-B774-B8D77DEF3154}">
      <dgm:prSet/>
      <dgm:spPr/>
      <dgm:t>
        <a:bodyPr/>
        <a:lstStyle/>
        <a:p>
          <a:endParaRPr lang="en-US"/>
        </a:p>
      </dgm:t>
    </dgm:pt>
    <dgm:pt modelId="{E7A45EEC-DC25-4D57-AB86-4648325F9EC7}" type="sibTrans" cxnId="{C7681B22-5253-4F5B-B774-B8D77DEF3154}">
      <dgm:prSet/>
      <dgm:spPr/>
      <dgm:t>
        <a:bodyPr/>
        <a:lstStyle/>
        <a:p>
          <a:endParaRPr lang="en-US"/>
        </a:p>
      </dgm:t>
    </dgm:pt>
    <dgm:pt modelId="{3884277A-8104-4EAE-9FF0-ADF8E529775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Monitoring and Automated Scanning</a:t>
          </a:r>
        </a:p>
      </dgm:t>
    </dgm:pt>
    <dgm:pt modelId="{ECC33DBD-3219-4956-AD2F-84A073AA4FBA}" type="parTrans" cxnId="{719A3256-C365-4874-8E6D-A87815688B8D}">
      <dgm:prSet/>
      <dgm:spPr/>
      <dgm:t>
        <a:bodyPr/>
        <a:lstStyle/>
        <a:p>
          <a:endParaRPr lang="en-US"/>
        </a:p>
      </dgm:t>
    </dgm:pt>
    <dgm:pt modelId="{DEE9ED31-0C64-4936-B600-3183A7D2B9A9}" type="sibTrans" cxnId="{719A3256-C365-4874-8E6D-A87815688B8D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E048B949-F167-4B0A-9B34-3AB4F6A443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Continuous monitoring and automated scanning detect vulnerabilities and ensure code integrity.</a:t>
          </a:r>
        </a:p>
      </dgm:t>
    </dgm:pt>
    <dgm:pt modelId="{F8BB57E8-7C81-4737-8C9C-A242601E7537}" type="parTrans" cxnId="{A3ABBCA5-9559-4CC3-AA7D-16BA3F82A538}">
      <dgm:prSet/>
      <dgm:spPr/>
      <dgm:t>
        <a:bodyPr/>
        <a:lstStyle/>
        <a:p>
          <a:endParaRPr lang="en-US"/>
        </a:p>
      </dgm:t>
    </dgm:pt>
    <dgm:pt modelId="{D29DA9CC-D996-4459-94C3-99F9CF893ACD}" type="sibTrans" cxnId="{A3ABBCA5-9559-4CC3-AA7D-16BA3F82A538}">
      <dgm:prSet/>
      <dgm:spPr/>
      <dgm:t>
        <a:bodyPr/>
        <a:lstStyle/>
        <a:p>
          <a:endParaRPr lang="en-US"/>
        </a:p>
      </dgm:t>
    </dgm:pt>
    <dgm:pt modelId="{7263BA91-9849-46AD-A321-F2B1070501F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Protecting Code Integrity</a:t>
          </a:r>
        </a:p>
      </dgm:t>
    </dgm:pt>
    <dgm:pt modelId="{2C2F4DAE-DB90-4789-B3FE-EA9F1676F175}" type="parTrans" cxnId="{CA0F9500-62BB-4F04-B2C1-AE70C09F49EE}">
      <dgm:prSet/>
      <dgm:spPr/>
      <dgm:t>
        <a:bodyPr/>
        <a:lstStyle/>
        <a:p>
          <a:endParaRPr lang="en-US"/>
        </a:p>
      </dgm:t>
    </dgm:pt>
    <dgm:pt modelId="{4B448BAD-48D6-4460-816B-D97A63E04AA4}" type="sibTrans" cxnId="{CA0F9500-62BB-4F04-B2C1-AE70C09F49EE}">
      <dgm:prSet/>
      <dgm:spPr/>
      <dgm:t>
        <a:bodyPr/>
        <a:lstStyle/>
        <a:p>
          <a:endParaRPr lang="en-US"/>
        </a:p>
      </dgm:t>
    </dgm:pt>
    <dgm:pt modelId="{CD19B1B9-986B-4447-AC37-D0DB84AA41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Adopting best practices safeguards code integrity and mitigates evolving security threats.</a:t>
          </a:r>
        </a:p>
      </dgm:t>
    </dgm:pt>
    <dgm:pt modelId="{E3C26D23-E5D1-478F-8C35-3DA543CB9E6E}" type="parTrans" cxnId="{2CDA232C-5350-48EB-87A7-9908030C5AC7}">
      <dgm:prSet/>
      <dgm:spPr/>
      <dgm:t>
        <a:bodyPr/>
        <a:lstStyle/>
        <a:p>
          <a:endParaRPr lang="en-US"/>
        </a:p>
      </dgm:t>
    </dgm:pt>
    <dgm:pt modelId="{BC81D35C-3BBC-429C-86FC-CD8508AB132C}" type="sibTrans" cxnId="{2CDA232C-5350-48EB-87A7-9908030C5AC7}">
      <dgm:prSet/>
      <dgm:spPr/>
      <dgm:t>
        <a:bodyPr/>
        <a:lstStyle/>
        <a:p>
          <a:endParaRPr lang="en-US"/>
        </a:p>
      </dgm:t>
    </dgm:pt>
    <dgm:pt modelId="{23F65EC0-8B9C-4A3D-A5FE-D1A84DB8592C}" type="pres">
      <dgm:prSet presAssocID="{A46DB5CD-D987-4B9D-B43F-3136038B02B7}" presName="Name0" presStyleCnt="0">
        <dgm:presLayoutVars>
          <dgm:dir/>
          <dgm:resizeHandles val="exact"/>
        </dgm:presLayoutVars>
      </dgm:prSet>
      <dgm:spPr/>
    </dgm:pt>
    <dgm:pt modelId="{7F3D49FB-9AFF-46E6-9614-27705ADD4E56}" type="pres">
      <dgm:prSet presAssocID="{28B300C3-DC55-4520-888A-09F96D7CD65E}" presName="compNode" presStyleCnt="0"/>
      <dgm:spPr/>
    </dgm:pt>
    <dgm:pt modelId="{6D1AF4A9-DE1A-4F3D-AE90-1B9F630817D4}" type="pres">
      <dgm:prSet presAssocID="{28B300C3-DC55-4520-888A-09F96D7CD65E}" presName="pictRect" presStyleLbl="revTx" presStyleIdx="0" presStyleCnt="6">
        <dgm:presLayoutVars>
          <dgm:chMax val="0"/>
          <dgm:bulletEnabled/>
        </dgm:presLayoutVars>
      </dgm:prSet>
      <dgm:spPr/>
    </dgm:pt>
    <dgm:pt modelId="{8F4A3FB4-8B79-4E2C-BA58-B068DA9BBA43}" type="pres">
      <dgm:prSet presAssocID="{28B300C3-DC55-4520-888A-09F96D7CD65E}" presName="textRect" presStyleLbl="revTx" presStyleIdx="1" presStyleCnt="6">
        <dgm:presLayoutVars>
          <dgm:bulletEnabled/>
        </dgm:presLayoutVars>
      </dgm:prSet>
      <dgm:spPr/>
    </dgm:pt>
    <dgm:pt modelId="{9D3D801E-006E-4BA3-B2AC-1F61C5F19AE3}" type="pres">
      <dgm:prSet presAssocID="{210B4903-E3F4-4F71-8F35-92C1C1B18CD5}" presName="sibTrans" presStyleLbl="sibTrans2D1" presStyleIdx="0" presStyleCnt="0"/>
      <dgm:spPr/>
    </dgm:pt>
    <dgm:pt modelId="{DE724EA5-B92F-4782-844F-E846C27C2D47}" type="pres">
      <dgm:prSet presAssocID="{3884277A-8104-4EAE-9FF0-ADF8E5297756}" presName="compNode" presStyleCnt="0"/>
      <dgm:spPr/>
    </dgm:pt>
    <dgm:pt modelId="{514D97EC-0693-4514-9723-70C016B7ED0F}" type="pres">
      <dgm:prSet presAssocID="{3884277A-8104-4EAE-9FF0-ADF8E5297756}" presName="pictRect" presStyleLbl="revTx" presStyleIdx="2" presStyleCnt="6">
        <dgm:presLayoutVars>
          <dgm:chMax val="0"/>
          <dgm:bulletEnabled/>
        </dgm:presLayoutVars>
      </dgm:prSet>
      <dgm:spPr/>
    </dgm:pt>
    <dgm:pt modelId="{FA60AB26-16E6-40AF-A15C-2DD728679A44}" type="pres">
      <dgm:prSet presAssocID="{3884277A-8104-4EAE-9FF0-ADF8E5297756}" presName="textRect" presStyleLbl="revTx" presStyleIdx="3" presStyleCnt="6">
        <dgm:presLayoutVars>
          <dgm:bulletEnabled/>
        </dgm:presLayoutVars>
      </dgm:prSet>
      <dgm:spPr/>
    </dgm:pt>
    <dgm:pt modelId="{772C2A3E-1673-4A73-B1FF-88E5B61EDDA2}" type="pres">
      <dgm:prSet presAssocID="{DEE9ED31-0C64-4936-B600-3183A7D2B9A9}" presName="sibTrans" presStyleLbl="sibTrans2D1" presStyleIdx="0" presStyleCnt="0"/>
      <dgm:spPr/>
    </dgm:pt>
    <dgm:pt modelId="{EC9589E2-E5B5-4F6E-B889-EC4533B10AED}" type="pres">
      <dgm:prSet presAssocID="{7263BA91-9849-46AD-A321-F2B1070501FE}" presName="compNode" presStyleCnt="0"/>
      <dgm:spPr/>
    </dgm:pt>
    <dgm:pt modelId="{2B07AB92-8E07-449E-9089-C071F2D853ED}" type="pres">
      <dgm:prSet presAssocID="{7263BA91-9849-46AD-A321-F2B1070501FE}" presName="pictRect" presStyleLbl="revTx" presStyleIdx="4" presStyleCnt="6">
        <dgm:presLayoutVars>
          <dgm:chMax val="0"/>
          <dgm:bulletEnabled/>
        </dgm:presLayoutVars>
      </dgm:prSet>
      <dgm:spPr/>
    </dgm:pt>
    <dgm:pt modelId="{AB031F42-3F71-4DC2-B052-3C35298876FD}" type="pres">
      <dgm:prSet presAssocID="{7263BA91-9849-46AD-A321-F2B1070501FE}" presName="textRect" presStyleLbl="revTx" presStyleIdx="5" presStyleCnt="6">
        <dgm:presLayoutVars>
          <dgm:bulletEnabled/>
        </dgm:presLayoutVars>
      </dgm:prSet>
      <dgm:spPr/>
    </dgm:pt>
  </dgm:ptLst>
  <dgm:cxnLst>
    <dgm:cxn modelId="{CA0F9500-62BB-4F04-B2C1-AE70C09F49EE}" srcId="{A46DB5CD-D987-4B9D-B43F-3136038B02B7}" destId="{7263BA91-9849-46AD-A321-F2B1070501FE}" srcOrd="2" destOrd="0" parTransId="{2C2F4DAE-DB90-4789-B3FE-EA9F1676F175}" sibTransId="{4B448BAD-48D6-4460-816B-D97A63E04AA4}"/>
    <dgm:cxn modelId="{BBB61121-35D7-400F-9EED-DA7B859FE1D0}" type="presOf" srcId="{9D75B5DD-65BF-4CBB-A368-712023CF0AC5}" destId="{8F4A3FB4-8B79-4E2C-BA58-B068DA9BBA43}" srcOrd="0" destOrd="0" presId="urn:microsoft.com/office/officeart/2024/3/layout/hArchList1"/>
    <dgm:cxn modelId="{C7681B22-5253-4F5B-B774-B8D77DEF3154}" srcId="{28B300C3-DC55-4520-888A-09F96D7CD65E}" destId="{9D75B5DD-65BF-4CBB-A368-712023CF0AC5}" srcOrd="0" destOrd="0" parTransId="{B752971C-56BC-4EA2-9264-E787EC62BC7F}" sibTransId="{E7A45EEC-DC25-4D57-AB86-4648325F9EC7}"/>
    <dgm:cxn modelId="{2CDA232C-5350-48EB-87A7-9908030C5AC7}" srcId="{7263BA91-9849-46AD-A321-F2B1070501FE}" destId="{CD19B1B9-986B-4447-AC37-D0DB84AA41DA}" srcOrd="0" destOrd="0" parTransId="{E3C26D23-E5D1-478F-8C35-3DA543CB9E6E}" sibTransId="{BC81D35C-3BBC-429C-86FC-CD8508AB132C}"/>
    <dgm:cxn modelId="{C993315E-1824-42EC-9621-9B0C2C7EAC77}" type="presOf" srcId="{DEE9ED31-0C64-4936-B600-3183A7D2B9A9}" destId="{772C2A3E-1673-4A73-B1FF-88E5B61EDDA2}" srcOrd="0" destOrd="0" presId="urn:microsoft.com/office/officeart/2024/3/layout/hArchList1"/>
    <dgm:cxn modelId="{81BC2667-E73D-42BC-A606-5DC4C6333D84}" type="presOf" srcId="{E048B949-F167-4B0A-9B34-3AB4F6A443A8}" destId="{FA60AB26-16E6-40AF-A15C-2DD728679A44}" srcOrd="0" destOrd="0" presId="urn:microsoft.com/office/officeart/2024/3/layout/hArchList1"/>
    <dgm:cxn modelId="{719A3256-C365-4874-8E6D-A87815688B8D}" srcId="{A46DB5CD-D987-4B9D-B43F-3136038B02B7}" destId="{3884277A-8104-4EAE-9FF0-ADF8E5297756}" srcOrd="1" destOrd="0" parTransId="{ECC33DBD-3219-4956-AD2F-84A073AA4FBA}" sibTransId="{DEE9ED31-0C64-4936-B600-3183A7D2B9A9}"/>
    <dgm:cxn modelId="{59489277-3CC1-4BF2-8648-D7903BABBBD8}" type="presOf" srcId="{A46DB5CD-D987-4B9D-B43F-3136038B02B7}" destId="{23F65EC0-8B9C-4A3D-A5FE-D1A84DB8592C}" srcOrd="0" destOrd="0" presId="urn:microsoft.com/office/officeart/2024/3/layout/hArchList1"/>
    <dgm:cxn modelId="{945AF959-68F1-4594-8A0F-7A170B59AD1B}" type="presOf" srcId="{7263BA91-9849-46AD-A321-F2B1070501FE}" destId="{2B07AB92-8E07-449E-9089-C071F2D853ED}" srcOrd="0" destOrd="0" presId="urn:microsoft.com/office/officeart/2024/3/layout/hArchList1"/>
    <dgm:cxn modelId="{F8F45D80-F423-4529-A9E9-EF3525281C63}" type="presOf" srcId="{3884277A-8104-4EAE-9FF0-ADF8E5297756}" destId="{514D97EC-0693-4514-9723-70C016B7ED0F}" srcOrd="0" destOrd="0" presId="urn:microsoft.com/office/officeart/2024/3/layout/hArchList1"/>
    <dgm:cxn modelId="{92798D86-E257-4024-AF03-A7CDC2EF1498}" srcId="{A46DB5CD-D987-4B9D-B43F-3136038B02B7}" destId="{28B300C3-DC55-4520-888A-09F96D7CD65E}" srcOrd="0" destOrd="0" parTransId="{27C63FF4-8A54-487D-A9A1-D2540F9D56FA}" sibTransId="{210B4903-E3F4-4F71-8F35-92C1C1B18CD5}"/>
    <dgm:cxn modelId="{A3ABBCA5-9559-4CC3-AA7D-16BA3F82A538}" srcId="{3884277A-8104-4EAE-9FF0-ADF8E5297756}" destId="{E048B949-F167-4B0A-9B34-3AB4F6A443A8}" srcOrd="0" destOrd="0" parTransId="{F8BB57E8-7C81-4737-8C9C-A242601E7537}" sibTransId="{D29DA9CC-D996-4459-94C3-99F9CF893ACD}"/>
    <dgm:cxn modelId="{D362EAD3-D36F-41D4-950B-9D6B19A2C52B}" type="presOf" srcId="{CD19B1B9-986B-4447-AC37-D0DB84AA41DA}" destId="{AB031F42-3F71-4DC2-B052-3C35298876FD}" srcOrd="0" destOrd="0" presId="urn:microsoft.com/office/officeart/2024/3/layout/hArchList1"/>
    <dgm:cxn modelId="{E92A52DE-3895-45B3-9CD3-9C47BD0E57ED}" type="presOf" srcId="{28B300C3-DC55-4520-888A-09F96D7CD65E}" destId="{6D1AF4A9-DE1A-4F3D-AE90-1B9F630817D4}" srcOrd="0" destOrd="0" presId="urn:microsoft.com/office/officeart/2024/3/layout/hArchList1"/>
    <dgm:cxn modelId="{A96467E9-BCE7-4F55-B12D-24AF3DDE259A}" type="presOf" srcId="{210B4903-E3F4-4F71-8F35-92C1C1B18CD5}" destId="{9D3D801E-006E-4BA3-B2AC-1F61C5F19AE3}" srcOrd="0" destOrd="0" presId="urn:microsoft.com/office/officeart/2024/3/layout/hArchList1"/>
    <dgm:cxn modelId="{D6941A24-58B4-4403-8A5E-3C55F7CB7E21}" type="presParOf" srcId="{23F65EC0-8B9C-4A3D-A5FE-D1A84DB8592C}" destId="{7F3D49FB-9AFF-46E6-9614-27705ADD4E56}" srcOrd="0" destOrd="0" presId="urn:microsoft.com/office/officeart/2024/3/layout/hArchList1"/>
    <dgm:cxn modelId="{2F4F7ADA-BB6A-436E-835D-1B645F4FF31D}" type="presParOf" srcId="{7F3D49FB-9AFF-46E6-9614-27705ADD4E56}" destId="{6D1AF4A9-DE1A-4F3D-AE90-1B9F630817D4}" srcOrd="0" destOrd="0" presId="urn:microsoft.com/office/officeart/2024/3/layout/hArchList1"/>
    <dgm:cxn modelId="{F626E1CC-F1D8-4AE3-A8DB-F5A48E1267D6}" type="presParOf" srcId="{7F3D49FB-9AFF-46E6-9614-27705ADD4E56}" destId="{8F4A3FB4-8B79-4E2C-BA58-B068DA9BBA43}" srcOrd="1" destOrd="0" presId="urn:microsoft.com/office/officeart/2024/3/layout/hArchList1"/>
    <dgm:cxn modelId="{85C31950-8EC4-4028-8A61-2718290AA36A}" type="presParOf" srcId="{23F65EC0-8B9C-4A3D-A5FE-D1A84DB8592C}" destId="{9D3D801E-006E-4BA3-B2AC-1F61C5F19AE3}" srcOrd="1" destOrd="0" presId="urn:microsoft.com/office/officeart/2024/3/layout/hArchList1"/>
    <dgm:cxn modelId="{97056C7C-D28E-4A83-9B1A-0A432A0D4DE1}" type="presParOf" srcId="{23F65EC0-8B9C-4A3D-A5FE-D1A84DB8592C}" destId="{DE724EA5-B92F-4782-844F-E846C27C2D47}" srcOrd="2" destOrd="0" presId="urn:microsoft.com/office/officeart/2024/3/layout/hArchList1"/>
    <dgm:cxn modelId="{BE963814-0385-43C6-9C84-E470C0C1AEDC}" type="presParOf" srcId="{DE724EA5-B92F-4782-844F-E846C27C2D47}" destId="{514D97EC-0693-4514-9723-70C016B7ED0F}" srcOrd="0" destOrd="0" presId="urn:microsoft.com/office/officeart/2024/3/layout/hArchList1"/>
    <dgm:cxn modelId="{8DC28E8B-B466-43C9-B4F3-9B5B46BD8DFB}" type="presParOf" srcId="{DE724EA5-B92F-4782-844F-E846C27C2D47}" destId="{FA60AB26-16E6-40AF-A15C-2DD728679A44}" srcOrd="1" destOrd="0" presId="urn:microsoft.com/office/officeart/2024/3/layout/hArchList1"/>
    <dgm:cxn modelId="{3E45409C-3A97-4B45-9D21-F0AFA88F5B0D}" type="presParOf" srcId="{23F65EC0-8B9C-4A3D-A5FE-D1A84DB8592C}" destId="{772C2A3E-1673-4A73-B1FF-88E5B61EDDA2}" srcOrd="3" destOrd="0" presId="urn:microsoft.com/office/officeart/2024/3/layout/hArchList1"/>
    <dgm:cxn modelId="{BA5FEC4D-3183-4922-BCE3-AF66B9370868}" type="presParOf" srcId="{23F65EC0-8B9C-4A3D-A5FE-D1A84DB8592C}" destId="{EC9589E2-E5B5-4F6E-B889-EC4533B10AED}" srcOrd="4" destOrd="0" presId="urn:microsoft.com/office/officeart/2024/3/layout/hArchList1"/>
    <dgm:cxn modelId="{565FA31E-DF22-49B4-966F-7CDC6001E7A1}" type="presParOf" srcId="{EC9589E2-E5B5-4F6E-B889-EC4533B10AED}" destId="{2B07AB92-8E07-449E-9089-C071F2D853ED}" srcOrd="0" destOrd="0" presId="urn:microsoft.com/office/officeart/2024/3/layout/hArchList1"/>
    <dgm:cxn modelId="{67B3D137-19B6-4D76-8898-30FDC0B6F716}" type="presParOf" srcId="{EC9589E2-E5B5-4F6E-B889-EC4533B10AED}" destId="{AB031F42-3F71-4DC2-B052-3C35298876FD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6DB5CD-D987-4B9D-B43F-3136038B02B7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F65EC0-8B9C-4A3D-A5FE-D1A84DB8592C}" type="pres">
      <dgm:prSet presAssocID="{A46DB5CD-D987-4B9D-B43F-3136038B02B7}" presName="Name0" presStyleCnt="0">
        <dgm:presLayoutVars>
          <dgm:dir/>
          <dgm:resizeHandles val="exact"/>
        </dgm:presLayoutVars>
      </dgm:prSet>
      <dgm:spPr/>
    </dgm:pt>
  </dgm:ptLst>
  <dgm:cxnLst>
    <dgm:cxn modelId="{59489277-3CC1-4BF2-8648-D7903BABBBD8}" type="presOf" srcId="{A46DB5CD-D987-4B9D-B43F-3136038B02B7}" destId="{23F65EC0-8B9C-4A3D-A5FE-D1A84DB8592C}" srcOrd="0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1AF4A9-DE1A-4F3D-AE90-1B9F630817D4}">
      <dsp:nvSpPr>
        <dsp:cNvPr id="0" name=""/>
        <dsp:cNvSpPr/>
      </dsp:nvSpPr>
      <dsp:spPr>
        <a:xfrm>
          <a:off x="0" y="0"/>
          <a:ext cx="3403282" cy="624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Comprehensive Security Approach</a:t>
          </a:r>
        </a:p>
      </dsp:txBody>
      <dsp:txXfrm>
        <a:off x="0" y="0"/>
        <a:ext cx="3403282" cy="624969"/>
      </dsp:txXfrm>
    </dsp:sp>
    <dsp:sp modelId="{8F4A3FB4-8B79-4E2C-BA58-B068DA9BBA43}">
      <dsp:nvSpPr>
        <dsp:cNvPr id="0" name=""/>
        <dsp:cNvSpPr/>
      </dsp:nvSpPr>
      <dsp:spPr>
        <a:xfrm>
          <a:off x="0" y="624969"/>
          <a:ext cx="3403282" cy="1887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Effective security requires multiple layers including access control, authentication, and code review.</a:t>
          </a:r>
        </a:p>
      </dsp:txBody>
      <dsp:txXfrm>
        <a:off x="0" y="624969"/>
        <a:ext cx="3403282" cy="1887445"/>
      </dsp:txXfrm>
    </dsp:sp>
    <dsp:sp modelId="{514D97EC-0693-4514-9723-70C016B7ED0F}">
      <dsp:nvSpPr>
        <dsp:cNvPr id="0" name=""/>
        <dsp:cNvSpPr/>
      </dsp:nvSpPr>
      <dsp:spPr>
        <a:xfrm>
          <a:off x="3743610" y="0"/>
          <a:ext cx="3403282" cy="624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Monitoring and Automated Scanning</a:t>
          </a:r>
        </a:p>
      </dsp:txBody>
      <dsp:txXfrm>
        <a:off x="3743610" y="0"/>
        <a:ext cx="3403282" cy="624969"/>
      </dsp:txXfrm>
    </dsp:sp>
    <dsp:sp modelId="{FA60AB26-16E6-40AF-A15C-2DD728679A44}">
      <dsp:nvSpPr>
        <dsp:cNvPr id="0" name=""/>
        <dsp:cNvSpPr/>
      </dsp:nvSpPr>
      <dsp:spPr>
        <a:xfrm>
          <a:off x="3743610" y="624969"/>
          <a:ext cx="3403282" cy="1887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Continuous monitoring and automated scanning detect vulnerabilities and ensure code integrity.</a:t>
          </a:r>
        </a:p>
      </dsp:txBody>
      <dsp:txXfrm>
        <a:off x="3743610" y="624969"/>
        <a:ext cx="3403282" cy="1887445"/>
      </dsp:txXfrm>
    </dsp:sp>
    <dsp:sp modelId="{2B07AB92-8E07-449E-9089-C071F2D853ED}">
      <dsp:nvSpPr>
        <dsp:cNvPr id="0" name=""/>
        <dsp:cNvSpPr/>
      </dsp:nvSpPr>
      <dsp:spPr>
        <a:xfrm>
          <a:off x="7487221" y="0"/>
          <a:ext cx="3403282" cy="624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Protecting Code Integrity</a:t>
          </a:r>
        </a:p>
      </dsp:txBody>
      <dsp:txXfrm>
        <a:off x="7487221" y="0"/>
        <a:ext cx="3403282" cy="624969"/>
      </dsp:txXfrm>
    </dsp:sp>
    <dsp:sp modelId="{AB031F42-3F71-4DC2-B052-3C35298876FD}">
      <dsp:nvSpPr>
        <dsp:cNvPr id="0" name=""/>
        <dsp:cNvSpPr/>
      </dsp:nvSpPr>
      <dsp:spPr>
        <a:xfrm>
          <a:off x="7487221" y="624969"/>
          <a:ext cx="3403282" cy="1887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Adopting best practices safeguards code integrity and mitigates evolving security threats.</a:t>
          </a:r>
        </a:p>
      </dsp:txBody>
      <dsp:txXfrm>
        <a:off x="7487221" y="624969"/>
        <a:ext cx="3403282" cy="18874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768B54-4CB4-48A9-8391-1031FA6907EF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D983D6-1D36-4A1D-ABE5-B04C01950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99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4A307-E5E1-4289-B65A-29E9EC3310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68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4A307-E5E1-4289-B65A-29E9EC3310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40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4A307-E5E1-4289-B65A-29E9EC3310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50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4A307-E5E1-4289-B65A-29E9EC3310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5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4A307-E5E1-4289-B65A-29E9EC3310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56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4A307-E5E1-4289-B65A-29E9EC3310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72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4A307-E5E1-4289-B65A-29E9EC3310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60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4A307-E5E1-4289-B65A-29E9EC33106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88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4A307-E5E1-4289-B65A-29E9EC33106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81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7A2F2-F995-B0E9-DF93-CADBBB2D1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1169B9-C5C7-554C-3F1C-D284471FA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23198F-C1B1-6FD4-FD92-BE8824D5D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05943-9AFA-A872-1186-F99C4C649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4A307-E5E1-4289-B65A-29E9EC33106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51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460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32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254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969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7/19/2025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85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7/19/2025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3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7/19/2025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211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4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6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22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82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89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get.assembla.com/blog/source-code-security/" TargetMode="Externa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D0611F-D4F8-43E2-875F-522491EB0B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19" r="5872" b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6DCCD0-2F4D-DE28-E783-3A7D22A27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3219" y="898373"/>
            <a:ext cx="4470544" cy="3474720"/>
          </a:xfrm>
        </p:spPr>
        <p:txBody>
          <a:bodyPr anchor="b">
            <a:normAutofit/>
          </a:bodyPr>
          <a:lstStyle/>
          <a:p>
            <a:pPr algn="l"/>
            <a:r>
              <a:rPr lang="en-US" sz="4500" dirty="0"/>
              <a:t>Best Practices for Securing Shared Source Code Repositories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78B1C-496F-EB27-C79C-95DE1B9564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2646" y="4495013"/>
            <a:ext cx="4116410" cy="1386840"/>
          </a:xfrm>
        </p:spPr>
        <p:txBody>
          <a:bodyPr anchor="t">
            <a:normAutofit fontScale="92500" lnSpcReduction="10000"/>
          </a:bodyPr>
          <a:lstStyle/>
          <a:p>
            <a:pPr algn="l"/>
            <a:r>
              <a:rPr lang="en-US" sz="2200" dirty="0"/>
              <a:t>By Jacob Cannamela</a:t>
            </a:r>
          </a:p>
          <a:p>
            <a:pPr algn="l"/>
            <a:r>
              <a:rPr lang="en-US" sz="2200" dirty="0"/>
              <a:t>CSD 380</a:t>
            </a:r>
          </a:p>
          <a:p>
            <a:pPr algn="l"/>
            <a:r>
              <a:rPr lang="en-US" sz="2200" dirty="0"/>
              <a:t>7/19/2025</a:t>
            </a:r>
          </a:p>
        </p:txBody>
      </p:sp>
    </p:spTree>
    <p:extLst>
      <p:ext uri="{BB962C8B-B14F-4D97-AF65-F5344CB8AC3E}">
        <p14:creationId xmlns:p14="http://schemas.microsoft.com/office/powerpoint/2010/main" val="3201863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08B1DD-1C21-9C6D-F476-EBA2C1746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to Shared Source Code Repositories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43BCE-8A28-25FE-7591-EFA303906AF7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Centralized Code Storage</a:t>
            </a:r>
          </a:p>
          <a:p>
            <a:pPr marL="0" lvl="1" indent="0">
              <a:buNone/>
            </a:pPr>
            <a:r>
              <a:rPr lang="en-US" sz="1400"/>
              <a:t>Shared repositories provide a central location for storing and managing source code accessible by multiple developers simultaneously.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Developer Collaboration</a:t>
            </a:r>
          </a:p>
          <a:p>
            <a:pPr marL="0" lvl="1" indent="0">
              <a:buNone/>
            </a:pPr>
            <a:r>
              <a:rPr lang="en-US" sz="1400"/>
              <a:t>They facilitate collaboration by allowing developers to share changes, track versions, and merge code efficiently.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Workflow Understanding</a:t>
            </a:r>
          </a:p>
          <a:p>
            <a:pPr marL="0" lvl="1" indent="0">
              <a:buNone/>
            </a:pPr>
            <a:r>
              <a:rPr lang="en-US" sz="1400"/>
              <a:t>Understanding repository structure and workflows is essential to maintain organized development and secure code management.</a:t>
            </a:r>
          </a:p>
        </p:txBody>
      </p:sp>
      <p:pic>
        <p:nvPicPr>
          <p:cNvPr id="5" name="Content Placeholder 4" descr="People working on a computer">
            <a:extLst>
              <a:ext uri="{FF2B5EF4-FFF2-40B4-BE49-F238E27FC236}">
                <a16:creationId xmlns:a16="http://schemas.microsoft.com/office/drawing/2014/main" id="{2B4B3B5F-7007-4000-8766-D71B8070E54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1244" r="21585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0244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905D5B-81A8-A5BA-F070-2788B26E0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0F83B3-E646-CC74-AE3B-1F5DE57B5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12141"/>
            <a:ext cx="4781603" cy="23327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Common Security Threats in Code Repositories</a:t>
            </a:r>
          </a:p>
        </p:txBody>
      </p:sp>
      <p:pic>
        <p:nvPicPr>
          <p:cNvPr id="5" name="Content Placeholder 4" descr="Abstract  Digital concept which shows network security optimization and internet technology  ">
            <a:extLst>
              <a:ext uri="{FF2B5EF4-FFF2-40B4-BE49-F238E27FC236}">
                <a16:creationId xmlns:a16="http://schemas.microsoft.com/office/drawing/2014/main" id="{DBCCC42B-EED7-44E4-8EFB-48A5108225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t="8992" r="3" b="3164"/>
          <a:stretch>
            <a:fillRect/>
          </a:stretch>
        </p:blipFill>
        <p:spPr>
          <a:xfrm>
            <a:off x="713615" y="681318"/>
            <a:ext cx="4680637" cy="308385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70569-150E-DB65-C1CA-C9B3D7A8D6FB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30550" y="548639"/>
            <a:ext cx="5548802" cy="5796301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Unauthorized Access Risks</a:t>
            </a:r>
          </a:p>
          <a:p>
            <a:pPr marL="0" lvl="1" indent="0">
              <a:buNone/>
            </a:pPr>
            <a:r>
              <a:rPr lang="en-US" sz="1400"/>
              <a:t>Unauthorized access to repositories can lead to data breaches and compromise of sensitive information.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Malicious Code Injection</a:t>
            </a:r>
          </a:p>
          <a:p>
            <a:pPr marL="0" lvl="1" indent="0">
              <a:buNone/>
            </a:pPr>
            <a:r>
              <a:rPr lang="en-US" sz="1400"/>
              <a:t>Injection of harmful code threatens software integrity and can introduce vulnerabilities in projects.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Insider Threats</a:t>
            </a:r>
          </a:p>
          <a:p>
            <a:pPr marL="0" lvl="1" indent="0">
              <a:buNone/>
            </a:pPr>
            <a:r>
              <a:rPr lang="en-US" sz="1400"/>
              <a:t>Insider threats from trusted users pose a risk through intentional or accidental misuse of repository resources.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Supply Chain Attacks</a:t>
            </a:r>
          </a:p>
          <a:p>
            <a:pPr marL="0" lvl="1" indent="0">
              <a:buNone/>
            </a:pPr>
            <a:r>
              <a:rPr lang="en-US" sz="1400"/>
              <a:t>Supply chain attacks exploit dependencies within repositories, impacting the wider software ecosystem.</a:t>
            </a:r>
          </a:p>
        </p:txBody>
      </p:sp>
    </p:spTree>
    <p:extLst>
      <p:ext uri="{BB962C8B-B14F-4D97-AF65-F5344CB8AC3E}">
        <p14:creationId xmlns:p14="http://schemas.microsoft.com/office/powerpoint/2010/main" val="1281544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B5DA6A-05E1-C7CD-1308-3E81D8B61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Access Control and User Permissions</a:t>
            </a:r>
          </a:p>
        </p:txBody>
      </p:sp>
      <p:pic>
        <p:nvPicPr>
          <p:cNvPr id="5" name="Content Placeholder 4" descr="Studio shot of an unrecognizable woman holding a tablet displaying an internet banking webpage against a blue background">
            <a:extLst>
              <a:ext uri="{FF2B5EF4-FFF2-40B4-BE49-F238E27FC236}">
                <a16:creationId xmlns:a16="http://schemas.microsoft.com/office/drawing/2014/main" id="{C7542C9C-668F-476F-8C71-87AD7620EF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0018" r="18382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E9985-6093-1E35-444B-24DF216F2622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Granular Access Control</a:t>
            </a:r>
          </a:p>
          <a:p>
            <a:pPr marL="0" lvl="1" indent="0">
              <a:buNone/>
            </a:pPr>
            <a:r>
              <a:rPr lang="en-US" sz="1400"/>
              <a:t>Granular access control restricts user permissions to only what is necessary for their specific roles.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Role-Based Access Control</a:t>
            </a:r>
          </a:p>
          <a:p>
            <a:pPr marL="0" lvl="1" indent="0">
              <a:buNone/>
            </a:pPr>
            <a:r>
              <a:rPr lang="en-US" sz="1400"/>
              <a:t>RBAC assigns permissions based on defined user roles to streamline security management.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Principle of Least Privilege</a:t>
            </a:r>
          </a:p>
          <a:p>
            <a:pPr marL="0" lvl="1" indent="0">
              <a:buNone/>
            </a:pPr>
            <a:r>
              <a:rPr lang="en-US" sz="1400"/>
              <a:t>Applying least privilege reduces risks by limiting users to minimal required access.</a:t>
            </a:r>
          </a:p>
        </p:txBody>
      </p:sp>
    </p:spTree>
    <p:extLst>
      <p:ext uri="{BB962C8B-B14F-4D97-AF65-F5344CB8AC3E}">
        <p14:creationId xmlns:p14="http://schemas.microsoft.com/office/powerpoint/2010/main" val="11108322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A68567-2EC5-3A6F-0A48-4E607E849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436168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Authentication and Authorization Mechanisms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A523C-E6C6-DF8F-85C0-7D8131EC9AF7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647" y="2212848"/>
            <a:ext cx="4361687" cy="409651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Multi-Factor Authentication</a:t>
            </a:r>
          </a:p>
          <a:p>
            <a:pPr marL="0" lvl="1" indent="0">
              <a:buNone/>
            </a:pPr>
            <a:r>
              <a:rPr lang="en-US" sz="1400"/>
              <a:t>MFA enhances security by requiring multiple verification steps to confirm user identity before access is granted.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Authorization Protocols</a:t>
            </a:r>
          </a:p>
          <a:p>
            <a:pPr marL="0" lvl="1" indent="0">
              <a:buNone/>
            </a:pPr>
            <a:r>
              <a:rPr lang="en-US" sz="1400"/>
              <a:t>Authorization protocols ensure users have appropriate permissions to access specific resources, preventing unauthorized use.</a:t>
            </a:r>
          </a:p>
        </p:txBody>
      </p:sp>
      <p:pic>
        <p:nvPicPr>
          <p:cNvPr id="5" name="Content Placeholder 4" descr="Hand holding virtual world with connection network. Global data information and technology exchange. stock photo">
            <a:extLst>
              <a:ext uri="{FF2B5EF4-FFF2-40B4-BE49-F238E27FC236}">
                <a16:creationId xmlns:a16="http://schemas.microsoft.com/office/drawing/2014/main" id="{4760ED49-50AD-45A3-AD5D-8C36611009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42613" b="-1"/>
          <a:stretch>
            <a:fillRect/>
          </a:stretch>
        </p:blipFill>
        <p:spPr>
          <a:xfrm>
            <a:off x="5818632" y="-1"/>
            <a:ext cx="637336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876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BC51E-0C98-6B58-2956-B74320FAF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Code Review and Approval Workflows</a:t>
            </a:r>
          </a:p>
        </p:txBody>
      </p:sp>
      <p:pic>
        <p:nvPicPr>
          <p:cNvPr id="5" name="Content Placeholder 4" descr="Shot of a group of programmers working together on a computer code at night">
            <a:extLst>
              <a:ext uri="{FF2B5EF4-FFF2-40B4-BE49-F238E27FC236}">
                <a16:creationId xmlns:a16="http://schemas.microsoft.com/office/drawing/2014/main" id="{3D2020E8-8D73-452C-929B-AC96D7C3D59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8412" r="43795" b="-1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7892EF-CED8-5020-F023-0534952FB44F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Mandatory Code Reviews</a:t>
            </a:r>
          </a:p>
          <a:p>
            <a:pPr marL="0" lvl="1" indent="0">
              <a:buNone/>
            </a:pPr>
            <a:r>
              <a:rPr lang="en-US" sz="1400"/>
              <a:t>Mandatory reviews detect vulnerabilities and maintain high code quality before integration.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Peer Review Benefits</a:t>
            </a:r>
          </a:p>
          <a:p>
            <a:pPr marL="0" lvl="1" indent="0">
              <a:buNone/>
            </a:pPr>
            <a:r>
              <a:rPr lang="en-US" sz="1400"/>
              <a:t>Peer reviews provide multiple perspectives to catch errors and improve code standards.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Automated Quality Checks</a:t>
            </a:r>
          </a:p>
          <a:p>
            <a:pPr marL="0" lvl="1" indent="0">
              <a:buNone/>
            </a:pPr>
            <a:r>
              <a:rPr lang="en-US" sz="1400"/>
              <a:t>Automated checks verify code quality and security efficiently during the approval workflow.</a:t>
            </a:r>
          </a:p>
        </p:txBody>
      </p:sp>
    </p:spTree>
    <p:extLst>
      <p:ext uri="{BB962C8B-B14F-4D97-AF65-F5344CB8AC3E}">
        <p14:creationId xmlns:p14="http://schemas.microsoft.com/office/powerpoint/2010/main" val="19284556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DE9DD-0556-2DD6-5D52-180776600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436168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Monitoring and Auditing Repository Activity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91885-5251-4520-27A1-569C71A04B95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647" y="2212848"/>
            <a:ext cx="4361687" cy="409651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Continuous Monitoring</a:t>
            </a:r>
          </a:p>
          <a:p>
            <a:pPr marL="0" lvl="1" indent="0">
              <a:buNone/>
            </a:pPr>
            <a:r>
              <a:rPr lang="en-US" sz="1400"/>
              <a:t>Continuous monitoring identifies suspicious activities early to maintain repository security and integrity.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Audit Logs and Alerts</a:t>
            </a:r>
          </a:p>
          <a:p>
            <a:pPr marL="0" lvl="1" indent="0">
              <a:buNone/>
            </a:pPr>
            <a:r>
              <a:rPr lang="en-US" sz="1400"/>
              <a:t>Audit logs and alerts support timely incident response and ensure compliance with security policies.</a:t>
            </a:r>
          </a:p>
        </p:txBody>
      </p:sp>
      <p:pic>
        <p:nvPicPr>
          <p:cNvPr id="5" name="Content Placeholder 4" descr="A computer futuristic digital program hud interface with a personal control system over a network, in which the computer uses the interface to interact with the user.">
            <a:extLst>
              <a:ext uri="{FF2B5EF4-FFF2-40B4-BE49-F238E27FC236}">
                <a16:creationId xmlns:a16="http://schemas.microsoft.com/office/drawing/2014/main" id="{EA7DA393-8B1A-4846-A96E-9423368FAF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2345" r="28632" b="-1"/>
          <a:stretch>
            <a:fillRect/>
          </a:stretch>
        </p:blipFill>
        <p:spPr>
          <a:xfrm>
            <a:off x="5818632" y="-1"/>
            <a:ext cx="637336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1866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CEF32-0283-18A2-E031-1B814C83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Automated Security Scanning and Vulnerability Detection</a:t>
            </a:r>
          </a:p>
        </p:txBody>
      </p:sp>
      <p:pic>
        <p:nvPicPr>
          <p:cNvPr id="5" name="Content Placeholder 4" descr="Personal Cyber  People Security 3d background">
            <a:extLst>
              <a:ext uri="{FF2B5EF4-FFF2-40B4-BE49-F238E27FC236}">
                <a16:creationId xmlns:a16="http://schemas.microsoft.com/office/drawing/2014/main" id="{D33159C0-5DBF-47E7-9DB9-8ECBF3AF11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9837" r="16464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5F50F-0304-4D6B-C5FC-327B4B491F73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Early Security Flaw Detection</a:t>
            </a:r>
          </a:p>
          <a:p>
            <a:pPr marL="0" lvl="1" indent="0">
              <a:buNone/>
            </a:pPr>
            <a:r>
              <a:rPr lang="en-US" sz="1400"/>
              <a:t>Automated scanning tools detect security vulnerabilities early in the software development lifecycle to prevent risks.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Static Code Analysis</a:t>
            </a:r>
          </a:p>
          <a:p>
            <a:pPr marL="0" lvl="1" indent="0">
              <a:buNone/>
            </a:pPr>
            <a:r>
              <a:rPr lang="en-US" sz="1400"/>
              <a:t>Static code analysis tools review source code to identify potential security issues without executing the program.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/>
              <a:t>Pre-Deployment Remediation</a:t>
            </a:r>
          </a:p>
          <a:p>
            <a:pPr marL="0" lvl="1" indent="0">
              <a:buNone/>
            </a:pPr>
            <a:r>
              <a:rPr lang="en-US" sz="1400"/>
              <a:t>Early identification allows developers to fix vulnerabilities before deploying software to production environments.</a:t>
            </a:r>
          </a:p>
        </p:txBody>
      </p:sp>
    </p:spTree>
    <p:extLst>
      <p:ext uri="{BB962C8B-B14F-4D97-AF65-F5344CB8AC3E}">
        <p14:creationId xmlns:p14="http://schemas.microsoft.com/office/powerpoint/2010/main" val="7651635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F74C59-445A-9824-B537-A392A6ECE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592238-28E1-6F7A-6749-C51655F42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847088"/>
            <a:ext cx="7344336" cy="1133856"/>
          </a:xfrm>
        </p:spPr>
        <p:txBody>
          <a:bodyPr anchor="b">
            <a:normAutofit/>
          </a:bodyPr>
          <a:lstStyle/>
          <a:p>
            <a:r>
              <a:rPr lang="en-US" sz="6000"/>
              <a:t>Conclusion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64D500EA-15A5-ED01-FC4B-6A5CF8F566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30486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612646" y="3593592"/>
          <a:ext cx="10890504" cy="2512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945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55BC6-0762-5BD1-D01D-8496E3C56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EC026D-BADA-1395-7BD8-EE863FEDE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50147B-F4C0-07CF-B96D-C7CB2F49C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56" y="1703488"/>
            <a:ext cx="4549288" cy="1133856"/>
          </a:xfrm>
        </p:spPr>
        <p:txBody>
          <a:bodyPr anchor="b">
            <a:normAutofit/>
          </a:bodyPr>
          <a:lstStyle/>
          <a:p>
            <a:r>
              <a:rPr lang="en-US" sz="6000" dirty="0"/>
              <a:t>References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8EA11C1C-7833-3301-9CD3-D1374295CB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8363045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612646" y="3593592"/>
          <a:ext cx="10890504" cy="2512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3D98A14-779A-58DD-511B-63E08C7AAE71}"/>
              </a:ext>
            </a:extLst>
          </p:cNvPr>
          <p:cNvSpPr txBox="1"/>
          <p:nvPr/>
        </p:nvSpPr>
        <p:spPr>
          <a:xfrm>
            <a:off x="688850" y="3972232"/>
            <a:ext cx="103533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Fernandes, C. (2025, June 24). Source Code Security Best Practices: A Complete guide | blog. </a:t>
            </a:r>
            <a:r>
              <a:rPr lang="en-US" dirty="0" err="1"/>
              <a:t>Assembla</a:t>
            </a:r>
            <a:r>
              <a:rPr lang="en-US" dirty="0"/>
              <a:t>. </a:t>
            </a:r>
            <a:r>
              <a:rPr lang="en-US" dirty="0">
                <a:hlinkClick r:id="rId8"/>
              </a:rPr>
              <a:t>https://get.assembla.com/blog/source-code-security/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Protect your code repository. (n.d.). https://www.ncsc.gov.uk/collection/developers-collection/principles/protect-your-code-repository</a:t>
            </a:r>
          </a:p>
        </p:txBody>
      </p:sp>
    </p:spTree>
    <p:extLst>
      <p:ext uri="{BB962C8B-B14F-4D97-AF65-F5344CB8AC3E}">
        <p14:creationId xmlns:p14="http://schemas.microsoft.com/office/powerpoint/2010/main" val="1164584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531</Words>
  <Application>Microsoft Office PowerPoint</Application>
  <PresentationFormat>Widescreen</PresentationFormat>
  <Paragraphs>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Neue Haas Grotesk Text Pro</vt:lpstr>
      <vt:lpstr>VanillaVTI</vt:lpstr>
      <vt:lpstr>Best Practices for Securing Shared Source Code Repositories</vt:lpstr>
      <vt:lpstr>Introduction to Shared Source Code Repositories</vt:lpstr>
      <vt:lpstr>Common Security Threats in Code Repositories</vt:lpstr>
      <vt:lpstr>Access Control and User Permissions</vt:lpstr>
      <vt:lpstr>Authentication and Authorization Mechanisms</vt:lpstr>
      <vt:lpstr>Code Review and Approval Workflows</vt:lpstr>
      <vt:lpstr>Monitoring and Auditing Repository Activity</vt:lpstr>
      <vt:lpstr>Automated Security Scanning and Vulnerability Detection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Cannamela</dc:creator>
  <cp:lastModifiedBy>Jacob Cannamela</cp:lastModifiedBy>
  <cp:revision>1</cp:revision>
  <dcterms:created xsi:type="dcterms:W3CDTF">2025-07-19T22:50:01Z</dcterms:created>
  <dcterms:modified xsi:type="dcterms:W3CDTF">2025-07-19T22:54:29Z</dcterms:modified>
</cp:coreProperties>
</file>