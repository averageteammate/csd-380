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13"/>
  </p:notesMasterIdLst>
  <p:sldIdLst>
    <p:sldId id="261" r:id="rId5"/>
    <p:sldId id="263" r:id="rId6"/>
    <p:sldId id="264" r:id="rId7"/>
    <p:sldId id="265" r:id="rId8"/>
    <p:sldId id="266" r:id="rId9"/>
    <p:sldId id="267" r:id="rId10"/>
    <p:sldId id="268" r:id="rId11"/>
    <p:sldId id="26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7" d="100"/>
          <a:sy n="97" d="100"/>
        </p:scale>
        <p:origin x="1110"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A75990-A4A1-4DDE-AA8D-73E60A452DD0}" type="datetimeFigureOut">
              <a:rPr lang="en-US" smtClean="0"/>
              <a:t>7/4/2025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75CD8D-B1D9-4658-A4F0-38CA8D83ED5D}" type="slidenum">
              <a:rPr lang="en-US" smtClean="0"/>
              <a:t>‹#›</a:t>
            </a:fld>
            <a:endParaRPr lang="en-US" dirty="0"/>
          </a:p>
        </p:txBody>
      </p:sp>
    </p:spTree>
    <p:extLst>
      <p:ext uri="{BB962C8B-B14F-4D97-AF65-F5344CB8AC3E}">
        <p14:creationId xmlns:p14="http://schemas.microsoft.com/office/powerpoint/2010/main" val="3830980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Pager rotation duties are critical in maintaining continuous operational support in a DevOps environment. Proper scheduling and understanding of responsibilities can reduce downtime and improve response times during incidents. Each team member's availability and expertise should be taken into account to create an efficient rotation system.</a:t>
            </a:r>
          </a:p>
        </p:txBody>
      </p:sp>
      <p:sp>
        <p:nvSpPr>
          <p:cNvPr id="4" name="Slide Number Placeholder 3"/>
          <p:cNvSpPr>
            <a:spLocks noGrp="1"/>
          </p:cNvSpPr>
          <p:nvPr>
            <p:ph type="sldNum" sz="quarter" idx="5"/>
          </p:nvPr>
        </p:nvSpPr>
        <p:spPr/>
        <p:txBody>
          <a:bodyPr/>
          <a:lstStyle/>
          <a:p>
            <a:fld id="{C275CD8D-B1D9-4658-A4F0-38CA8D83ED5D}" type="slidenum">
              <a:rPr lang="en-US" smtClean="0"/>
              <a:t>2</a:t>
            </a:fld>
            <a:endParaRPr lang="en-US" dirty="0"/>
          </a:p>
        </p:txBody>
      </p:sp>
    </p:spTree>
    <p:extLst>
      <p:ext uri="{BB962C8B-B14F-4D97-AF65-F5344CB8AC3E}">
        <p14:creationId xmlns:p14="http://schemas.microsoft.com/office/powerpoint/2010/main" val="3694707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effective pager rotation system can lead to significant benefits, including reduced burnout and stress levels among team members. By ensuring that responsibilities are shared equitably, all team members can stay engaged and accountable for their roles during incident responses.</a:t>
            </a:r>
          </a:p>
        </p:txBody>
      </p:sp>
      <p:sp>
        <p:nvSpPr>
          <p:cNvPr id="4" name="Slide Number Placeholder 3"/>
          <p:cNvSpPr>
            <a:spLocks noGrp="1"/>
          </p:cNvSpPr>
          <p:nvPr>
            <p:ph type="sldNum" sz="quarter" idx="5"/>
          </p:nvPr>
        </p:nvSpPr>
        <p:spPr/>
        <p:txBody>
          <a:bodyPr/>
          <a:lstStyle/>
          <a:p>
            <a:fld id="{C275CD8D-B1D9-4658-A4F0-38CA8D83ED5D}" type="slidenum">
              <a:rPr lang="en-US" smtClean="0"/>
              <a:t>3</a:t>
            </a:fld>
            <a:endParaRPr lang="en-US" dirty="0"/>
          </a:p>
        </p:txBody>
      </p:sp>
    </p:spTree>
    <p:extLst>
      <p:ext uri="{BB962C8B-B14F-4D97-AF65-F5344CB8AC3E}">
        <p14:creationId xmlns:p14="http://schemas.microsoft.com/office/powerpoint/2010/main" val="3102826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set up a successful pager rotation, it's important to define clear roles and responsibilities for each team member. Advance communication of schedules can help prevent conflicts, and using management tools can streamline the process, making it more efficient and transparent.</a:t>
            </a:r>
          </a:p>
        </p:txBody>
      </p:sp>
      <p:sp>
        <p:nvSpPr>
          <p:cNvPr id="4" name="Slide Number Placeholder 3"/>
          <p:cNvSpPr>
            <a:spLocks noGrp="1"/>
          </p:cNvSpPr>
          <p:nvPr>
            <p:ph type="sldNum" sz="quarter" idx="5"/>
          </p:nvPr>
        </p:nvSpPr>
        <p:spPr/>
        <p:txBody>
          <a:bodyPr/>
          <a:lstStyle/>
          <a:p>
            <a:fld id="{C275CD8D-B1D9-4658-A4F0-38CA8D83ED5D}" type="slidenum">
              <a:rPr lang="en-US" smtClean="0"/>
              <a:t>4</a:t>
            </a:fld>
            <a:endParaRPr lang="en-US" dirty="0"/>
          </a:p>
        </p:txBody>
      </p:sp>
    </p:spTree>
    <p:extLst>
      <p:ext uri="{BB962C8B-B14F-4D97-AF65-F5344CB8AC3E}">
        <p14:creationId xmlns:p14="http://schemas.microsoft.com/office/powerpoint/2010/main" val="3952913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Despite its benefits, pager rotation can present challenges. Inconsistent communication can create confusion among team members, while overlapping responsibilities may lead to gaps in coverage. Unforeseen circumstances, such as emergencies or illness, can also disrupt schedules, requiring flexibility and adaptability in the system.</a:t>
            </a:r>
          </a:p>
        </p:txBody>
      </p:sp>
      <p:sp>
        <p:nvSpPr>
          <p:cNvPr id="4" name="Slide Number Placeholder 3"/>
          <p:cNvSpPr>
            <a:spLocks noGrp="1"/>
          </p:cNvSpPr>
          <p:nvPr>
            <p:ph type="sldNum" sz="quarter" idx="5"/>
          </p:nvPr>
        </p:nvSpPr>
        <p:spPr/>
        <p:txBody>
          <a:bodyPr/>
          <a:lstStyle/>
          <a:p>
            <a:fld id="{C275CD8D-B1D9-4658-A4F0-38CA8D83ED5D}" type="slidenum">
              <a:rPr lang="en-US" smtClean="0"/>
              <a:t>5</a:t>
            </a:fld>
            <a:endParaRPr lang="en-US" dirty="0"/>
          </a:p>
        </p:txBody>
      </p:sp>
    </p:spTree>
    <p:extLst>
      <p:ext uri="{BB962C8B-B14F-4D97-AF65-F5344CB8AC3E}">
        <p14:creationId xmlns:p14="http://schemas.microsoft.com/office/powerpoint/2010/main" val="2748915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Maintaining effective communication is crucial for successful pager rotation. Regular team meetings can provide opportunities for updates and feedback. Utilizing chat tools allows for quick communication, while documenting incidents and responses can help improve future rotations and incident handling.</a:t>
            </a:r>
          </a:p>
        </p:txBody>
      </p:sp>
      <p:sp>
        <p:nvSpPr>
          <p:cNvPr id="4" name="Slide Number Placeholder 3"/>
          <p:cNvSpPr>
            <a:spLocks noGrp="1"/>
          </p:cNvSpPr>
          <p:nvPr>
            <p:ph type="sldNum" sz="quarter" idx="5"/>
          </p:nvPr>
        </p:nvSpPr>
        <p:spPr/>
        <p:txBody>
          <a:bodyPr/>
          <a:lstStyle/>
          <a:p>
            <a:fld id="{C275CD8D-B1D9-4658-A4F0-38CA8D83ED5D}" type="slidenum">
              <a:rPr lang="en-US" smtClean="0"/>
              <a:t>6</a:t>
            </a:fld>
            <a:endParaRPr lang="en-US" dirty="0"/>
          </a:p>
        </p:txBody>
      </p:sp>
    </p:spTree>
    <p:extLst>
      <p:ext uri="{BB962C8B-B14F-4D97-AF65-F5344CB8AC3E}">
        <p14:creationId xmlns:p14="http://schemas.microsoft.com/office/powerpoint/2010/main" val="3225063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ensure the pager rotation system remains effective, it's essential to regularly evaluate and improve it. Collecting feedback from team members can provide insight into potential improvements. Analyzing incident response times can help identify areas for adjustment, and learning from past incidents can lead to better future practices.</a:t>
            </a:r>
          </a:p>
        </p:txBody>
      </p:sp>
      <p:sp>
        <p:nvSpPr>
          <p:cNvPr id="4" name="Slide Number Placeholder 3"/>
          <p:cNvSpPr>
            <a:spLocks noGrp="1"/>
          </p:cNvSpPr>
          <p:nvPr>
            <p:ph type="sldNum" sz="quarter" idx="5"/>
          </p:nvPr>
        </p:nvSpPr>
        <p:spPr/>
        <p:txBody>
          <a:bodyPr/>
          <a:lstStyle/>
          <a:p>
            <a:fld id="{C275CD8D-B1D9-4658-A4F0-38CA8D83ED5D}" type="slidenum">
              <a:rPr lang="en-US" smtClean="0"/>
              <a:t>7</a:t>
            </a:fld>
            <a:endParaRPr lang="en-US" dirty="0"/>
          </a:p>
        </p:txBody>
      </p:sp>
    </p:spTree>
    <p:extLst>
      <p:ext uri="{BB962C8B-B14F-4D97-AF65-F5344CB8AC3E}">
        <p14:creationId xmlns:p14="http://schemas.microsoft.com/office/powerpoint/2010/main" val="2734466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conclusion, pager rotation duties are crucial for the success of any DevOps team. By enhancing team morale and operational efficiency, effective rotations contribute to better incident management. Ongoing adjustments and clear communication are necessary to ensure that the system continues to meet the team's needs.</a:t>
            </a:r>
          </a:p>
        </p:txBody>
      </p:sp>
      <p:sp>
        <p:nvSpPr>
          <p:cNvPr id="4" name="Slide Number Placeholder 3"/>
          <p:cNvSpPr>
            <a:spLocks noGrp="1"/>
          </p:cNvSpPr>
          <p:nvPr>
            <p:ph type="sldNum" sz="quarter" idx="5"/>
          </p:nvPr>
        </p:nvSpPr>
        <p:spPr/>
        <p:txBody>
          <a:bodyPr/>
          <a:lstStyle/>
          <a:p>
            <a:fld id="{C275CD8D-B1D9-4658-A4F0-38CA8D83ED5D}" type="slidenum">
              <a:rPr lang="en-US" smtClean="0"/>
              <a:t>8</a:t>
            </a:fld>
            <a:endParaRPr lang="en-US" dirty="0"/>
          </a:p>
        </p:txBody>
      </p:sp>
    </p:spTree>
    <p:extLst>
      <p:ext uri="{BB962C8B-B14F-4D97-AF65-F5344CB8AC3E}">
        <p14:creationId xmlns:p14="http://schemas.microsoft.com/office/powerpoint/2010/main" val="39267862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808C238F-B856-42A4-BC32-194DCC130D5F}" type="datetime1">
              <a:rPr lang="en-US" smtClean="0"/>
              <a:t>7/4/2025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2C1CB5-A088-4DB4-8A5C-B084F9B2B528}" type="datetime1">
              <a:rPr lang="en-US" smtClean="0"/>
              <a:t>7/4/2025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3C1328-ADC8-435B-8F5C-D339CD9DD487}" type="datetime1">
              <a:rPr lang="en-US" smtClean="0"/>
              <a:t>7/4/2025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256410-64C5-4311-8359-FDA6B61ABBAE}" type="datetime1">
              <a:rPr lang="en-US" smtClean="0"/>
              <a:t>7/4/2025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18B01E-6E1B-4AFC-A690-27C447C9486E}" type="datetime1">
              <a:rPr lang="en-US" smtClean="0"/>
              <a:t>7/4/2025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852F3D2-503A-4E49-99AD-125A054E178F}" type="datetime1">
              <a:rPr lang="en-US" smtClean="0"/>
              <a:t>7/4/2025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166207-223C-48E4-AE22-548ABC801447}" type="datetime1">
              <a:rPr lang="en-US" smtClean="0"/>
              <a:t>7/4/2025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941151-B38C-4230-91F0-8A3BB69A056C}" type="datetime1">
              <a:rPr lang="en-US" smtClean="0"/>
              <a:t>7/4/2025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3F6EA29-EE45-46F5-8084-6929433FA14E}" type="datetime1">
              <a:rPr lang="en-US" smtClean="0"/>
              <a:t>7/4/2025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4872680-3826-48D8-A0B9-F293E3A564DD}" type="datetime1">
              <a:rPr lang="en-US" smtClean="0"/>
              <a:t>7/4/2025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FC0F02A-B435-4587-AE10-6A02865845FD}" type="datetime1">
              <a:rPr lang="en-US" smtClean="0"/>
              <a:t>7/4/2025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DF27A1-9C29-4918-BA16-87149545F673}" type="datetime1">
              <a:rPr lang="en-US" smtClean="0"/>
              <a:t>7/4/2025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7EEE601-4D27-49FF-B099-2799466F7EDA}" type="datetime1">
              <a:rPr lang="en-US" smtClean="0"/>
              <a:t>7/4/2025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4E52469-603F-4B0F-8F23-6B2B143D5424}" type="datetime1">
              <a:rPr lang="en-US" smtClean="0"/>
              <a:t>7/4/2025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D7781E0-05FC-475E-A14D-85EF9B55E67B}" type="datetime1">
              <a:rPr lang="en-US" smtClean="0"/>
              <a:t>7/4/2025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8D02C8-8352-4A2E-A3CD-139A8583C932}" type="datetime1">
              <a:rPr lang="en-US" smtClean="0"/>
              <a:t>7/4/2025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680581-4B77-41E9-BE55-C3C9C3900A2A}" type="datetime1">
              <a:rPr lang="en-US" smtClean="0"/>
              <a:t>7/4/2025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567B94D-50C4-4558-AAA1-857DDB1A21EF}" type="datetime1">
              <a:rPr lang="en-US" smtClean="0"/>
              <a:t>7/4/2025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4.jpe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5.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6.jpe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7.jpe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8.jpe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9.jpe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0.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grpSp>
        <p:nvGrpSpPr>
          <p:cNvPr id="77" name="Group 76">
            <a:extLst>
              <a:ext uri="{FF2B5EF4-FFF2-40B4-BE49-F238E27FC236}">
                <a16:creationId xmlns:a16="http://schemas.microsoft.com/office/drawing/2014/main" id="{AD579530-1077-46B3-BD5C-81BB270A1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78" name="Rectangle 77">
              <a:extLst>
                <a:ext uri="{FF2B5EF4-FFF2-40B4-BE49-F238E27FC236}">
                  <a16:creationId xmlns:a16="http://schemas.microsoft.com/office/drawing/2014/main" id="{ACBB106A-B366-4349-B59F-E8FBDADD8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9" name="Picture 2">
              <a:extLst>
                <a:ext uri="{FF2B5EF4-FFF2-40B4-BE49-F238E27FC236}">
                  <a16:creationId xmlns:a16="http://schemas.microsoft.com/office/drawing/2014/main" id="{113FC03B-24E4-4A3F-9626-CC7F6356BC9E}"/>
                </a:ext>
                <a:ext uri="{C183D7F6-B498-43B3-948B-1728B52AA6E4}">
                  <adec:decorative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3">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pic>
        <p:nvPicPr>
          <p:cNvPr id="5" name="Picture 4" descr="close up of circuit board">
            <a:extLst>
              <a:ext uri="{FF2B5EF4-FFF2-40B4-BE49-F238E27FC236}">
                <a16:creationId xmlns:a16="http://schemas.microsoft.com/office/drawing/2014/main" id="{525AE681-57C0-4C44-9E88-A16CDA016EB3}"/>
              </a:ext>
            </a:extLst>
          </p:cNvPr>
          <p:cNvPicPr>
            <a:picLocks noChangeAspect="1"/>
          </p:cNvPicPr>
          <p:nvPr/>
        </p:nvPicPr>
        <p:blipFill rotWithShape="1">
          <a:blip r:embed="rId4">
            <a:alphaModFix amt="30000"/>
          </a:blip>
          <a:srcRect t="6504" b="9202"/>
          <a:stretch/>
        </p:blipFill>
        <p:spPr>
          <a:xfrm>
            <a:off x="-2" y="10"/>
            <a:ext cx="12188389" cy="6857990"/>
          </a:xfrm>
          <a:prstGeom prst="rect">
            <a:avLst/>
          </a:prstGeom>
        </p:spPr>
      </p:pic>
      <p:grpSp>
        <p:nvGrpSpPr>
          <p:cNvPr id="81" name="Group 80">
            <a:extLst>
              <a:ext uri="{FF2B5EF4-FFF2-40B4-BE49-F238E27FC236}">
                <a16:creationId xmlns:a16="http://schemas.microsoft.com/office/drawing/2014/main" id="{83F79A5F-63B5-4802-B39B-BF0F89DDDA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82" name="Round Diagonal Corner Rectangle 7">
              <a:extLst>
                <a:ext uri="{FF2B5EF4-FFF2-40B4-BE49-F238E27FC236}">
                  <a16:creationId xmlns:a16="http://schemas.microsoft.com/office/drawing/2014/main" id="{00D14BF7-A799-4EDA-8C19-CED0B8EC5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83" name="Group 82">
              <a:extLst>
                <a:ext uri="{FF2B5EF4-FFF2-40B4-BE49-F238E27FC236}">
                  <a16:creationId xmlns:a16="http://schemas.microsoft.com/office/drawing/2014/main" id="{AF292344-73C8-4E53-85C0-8CDB23EB53B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84" name="Freeform 32">
                <a:extLst>
                  <a:ext uri="{FF2B5EF4-FFF2-40B4-BE49-F238E27FC236}">
                    <a16:creationId xmlns:a16="http://schemas.microsoft.com/office/drawing/2014/main" id="{4781E776-A0A7-4FB6-958B-8389BBA56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5" name="Freeform 33">
                <a:extLst>
                  <a:ext uri="{FF2B5EF4-FFF2-40B4-BE49-F238E27FC236}">
                    <a16:creationId xmlns:a16="http://schemas.microsoft.com/office/drawing/2014/main" id="{0F004D56-F177-45BC-8965-B72DB88A085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6" name="Freeform 34">
                <a:extLst>
                  <a:ext uri="{FF2B5EF4-FFF2-40B4-BE49-F238E27FC236}">
                    <a16:creationId xmlns:a16="http://schemas.microsoft.com/office/drawing/2014/main" id="{5F2F1F83-817B-4678-B0AE-8FFDC49FC82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7" name="Freeform 37">
                <a:extLst>
                  <a:ext uri="{FF2B5EF4-FFF2-40B4-BE49-F238E27FC236}">
                    <a16:creationId xmlns:a16="http://schemas.microsoft.com/office/drawing/2014/main" id="{F908EB47-32F4-4E82-BF56-FD25BB0747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8" name="Freeform 35">
                <a:extLst>
                  <a:ext uri="{FF2B5EF4-FFF2-40B4-BE49-F238E27FC236}">
                    <a16:creationId xmlns:a16="http://schemas.microsoft.com/office/drawing/2014/main" id="{0966000D-B975-4E8A-9BF2-EACF216405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89" name="Freeform 36">
                <a:extLst>
                  <a:ext uri="{FF2B5EF4-FFF2-40B4-BE49-F238E27FC236}">
                    <a16:creationId xmlns:a16="http://schemas.microsoft.com/office/drawing/2014/main" id="{A9554499-6796-4AEE-B012-34A5B9A585A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0" name="Freeform 38">
                <a:extLst>
                  <a:ext uri="{FF2B5EF4-FFF2-40B4-BE49-F238E27FC236}">
                    <a16:creationId xmlns:a16="http://schemas.microsoft.com/office/drawing/2014/main" id="{9DD40864-34BD-491F-B591-180E7B32C1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1" name="Freeform 39">
                <a:extLst>
                  <a:ext uri="{FF2B5EF4-FFF2-40B4-BE49-F238E27FC236}">
                    <a16:creationId xmlns:a16="http://schemas.microsoft.com/office/drawing/2014/main" id="{2623F54C-4373-4D30-90DB-3129BDDF5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2" name="Freeform 40">
                <a:extLst>
                  <a:ext uri="{FF2B5EF4-FFF2-40B4-BE49-F238E27FC236}">
                    <a16:creationId xmlns:a16="http://schemas.microsoft.com/office/drawing/2014/main" id="{1FF42884-D4B2-462F-9FA7-4FA8925322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3" name="Rectangle 41">
                <a:extLst>
                  <a:ext uri="{FF2B5EF4-FFF2-40B4-BE49-F238E27FC236}">
                    <a16:creationId xmlns:a16="http://schemas.microsoft.com/office/drawing/2014/main" id="{27F4D4BA-37F5-4D54-BDFF-733F621D5DB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4" name="Freeform 32">
                <a:extLst>
                  <a:ext uri="{FF2B5EF4-FFF2-40B4-BE49-F238E27FC236}">
                    <a16:creationId xmlns:a16="http://schemas.microsoft.com/office/drawing/2014/main" id="{29E4A0E5-0441-4563-A947-12A5781105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5" name="Freeform 33">
                <a:extLst>
                  <a:ext uri="{FF2B5EF4-FFF2-40B4-BE49-F238E27FC236}">
                    <a16:creationId xmlns:a16="http://schemas.microsoft.com/office/drawing/2014/main" id="{4A8D89B4-AD1B-410A-870B-1042E075A04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6" name="Freeform 34">
                <a:extLst>
                  <a:ext uri="{FF2B5EF4-FFF2-40B4-BE49-F238E27FC236}">
                    <a16:creationId xmlns:a16="http://schemas.microsoft.com/office/drawing/2014/main" id="{DFC54570-9F45-44E6-AC94-4B3192D44B2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7" name="Freeform 37">
                <a:extLst>
                  <a:ext uri="{FF2B5EF4-FFF2-40B4-BE49-F238E27FC236}">
                    <a16:creationId xmlns:a16="http://schemas.microsoft.com/office/drawing/2014/main" id="{A976F76C-4BBB-4CD4-9270-5E4E8802BF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8" name="Freeform 35">
                <a:extLst>
                  <a:ext uri="{FF2B5EF4-FFF2-40B4-BE49-F238E27FC236}">
                    <a16:creationId xmlns:a16="http://schemas.microsoft.com/office/drawing/2014/main" id="{06081E5F-35E2-4E9E-A0DA-9E2F769C4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99" name="Freeform 36">
                <a:extLst>
                  <a:ext uri="{FF2B5EF4-FFF2-40B4-BE49-F238E27FC236}">
                    <a16:creationId xmlns:a16="http://schemas.microsoft.com/office/drawing/2014/main" id="{7B7B4F78-1391-433D-AAE5-0FA8B8EE18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00" name="Freeform 38">
                <a:extLst>
                  <a:ext uri="{FF2B5EF4-FFF2-40B4-BE49-F238E27FC236}">
                    <a16:creationId xmlns:a16="http://schemas.microsoft.com/office/drawing/2014/main" id="{EF63F42B-29ED-4285-99D1-5FA657DA92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01" name="Freeform 39">
                <a:extLst>
                  <a:ext uri="{FF2B5EF4-FFF2-40B4-BE49-F238E27FC236}">
                    <a16:creationId xmlns:a16="http://schemas.microsoft.com/office/drawing/2014/main" id="{EB7A6053-A7CF-4785-B396-6F70D6EBE9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02" name="Freeform 40">
                <a:extLst>
                  <a:ext uri="{FF2B5EF4-FFF2-40B4-BE49-F238E27FC236}">
                    <a16:creationId xmlns:a16="http://schemas.microsoft.com/office/drawing/2014/main" id="{E6337518-A10D-47A5-BD86-6D1F3FAF3C9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sp>
            <p:nvSpPr>
              <p:cNvPr id="103" name="Rectangle 41">
                <a:extLst>
                  <a:ext uri="{FF2B5EF4-FFF2-40B4-BE49-F238E27FC236}">
                    <a16:creationId xmlns:a16="http://schemas.microsoft.com/office/drawing/2014/main" id="{7591C37F-6498-4992-992D-D413A84752D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p:spPr>
            <p:txBody>
              <a:bodyPr/>
              <a:lstStyle/>
              <a:p>
                <a:endParaRPr lang="en-US"/>
              </a:p>
            </p:txBody>
          </p:sp>
        </p:grpSp>
      </p:grpSp>
      <p:sp>
        <p:nvSpPr>
          <p:cNvPr id="2" name="Title 1">
            <a:extLst>
              <a:ext uri="{FF2B5EF4-FFF2-40B4-BE49-F238E27FC236}">
                <a16:creationId xmlns:a16="http://schemas.microsoft.com/office/drawing/2014/main" id="{ED476017-D224-40AE-B921-67525450151A}"/>
              </a:ext>
            </a:extLst>
          </p:cNvPr>
          <p:cNvSpPr>
            <a:spLocks noGrp="1"/>
          </p:cNvSpPr>
          <p:nvPr>
            <p:ph type="ctrTitle"/>
          </p:nvPr>
        </p:nvSpPr>
        <p:spPr>
          <a:xfrm>
            <a:off x="2667000" y="2328334"/>
            <a:ext cx="6858000" cy="1367896"/>
          </a:xfrm>
        </p:spPr>
        <p:txBody>
          <a:bodyPr>
            <a:normAutofit/>
          </a:bodyPr>
          <a:lstStyle/>
          <a:p>
            <a:pPr algn="ctr"/>
            <a:r>
              <a:rPr lang="en-US" dirty="0"/>
              <a:t>pager rotation duties</a:t>
            </a:r>
          </a:p>
        </p:txBody>
      </p:sp>
      <p:sp>
        <p:nvSpPr>
          <p:cNvPr id="3" name="Subtitle 2">
            <a:extLst>
              <a:ext uri="{FF2B5EF4-FFF2-40B4-BE49-F238E27FC236}">
                <a16:creationId xmlns:a16="http://schemas.microsoft.com/office/drawing/2014/main" id="{51F013D4-CBD9-4FC1-AF91-2301A704488B}"/>
              </a:ext>
            </a:extLst>
          </p:cNvPr>
          <p:cNvSpPr>
            <a:spLocks noGrp="1"/>
          </p:cNvSpPr>
          <p:nvPr>
            <p:ph type="subTitle" idx="1"/>
          </p:nvPr>
        </p:nvSpPr>
        <p:spPr>
          <a:xfrm>
            <a:off x="2667001" y="3602038"/>
            <a:ext cx="6857999" cy="953029"/>
          </a:xfrm>
        </p:spPr>
        <p:txBody>
          <a:bodyPr>
            <a:normAutofit fontScale="62500" lnSpcReduction="20000"/>
          </a:bodyPr>
          <a:lstStyle/>
          <a:p>
            <a:pPr algn="ctr"/>
            <a:r>
              <a:rPr lang="en-US" dirty="0"/>
              <a:t>By Jacob Cannamela</a:t>
            </a:r>
          </a:p>
          <a:p>
            <a:pPr algn="ctr"/>
            <a:r>
              <a:rPr lang="en-US" dirty="0"/>
              <a:t>CSD 380</a:t>
            </a:r>
          </a:p>
          <a:p>
            <a:pPr algn="ctr"/>
            <a:r>
              <a:rPr lang="en-US" dirty="0"/>
              <a:t>7/4/2025</a:t>
            </a:r>
          </a:p>
        </p:txBody>
      </p:sp>
    </p:spTree>
    <p:extLst>
      <p:ext uri="{BB962C8B-B14F-4D97-AF65-F5344CB8AC3E}">
        <p14:creationId xmlns:p14="http://schemas.microsoft.com/office/powerpoint/2010/main" val="1337192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6"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7"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2"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grpSp>
          <p:nvGrpSpPr>
            <p:cNvPr id="14" name="Group 13">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grpSp>
      <p:sp useBgFill="1">
        <p:nvSpPr>
          <p:cNvPr id="53" name="Rectangle 52">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5"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AC32356-2999-4B8B-38E0-113DC77C8426}"/>
              </a:ext>
            </a:extLst>
          </p:cNvPr>
          <p:cNvSpPr>
            <a:spLocks noGrp="1"/>
          </p:cNvSpPr>
          <p:nvPr>
            <p:ph type="title"/>
          </p:nvPr>
        </p:nvSpPr>
        <p:spPr>
          <a:xfrm>
            <a:off x="1141413" y="618518"/>
            <a:ext cx="4459286" cy="1478570"/>
          </a:xfrm>
        </p:spPr>
        <p:txBody>
          <a:bodyPr vert="horz" lIns="91440" tIns="45720" rIns="91440" bIns="45720" rtlCol="0" anchor="ctr">
            <a:normAutofit/>
          </a:bodyPr>
          <a:lstStyle/>
          <a:p>
            <a:r>
              <a:rPr lang="en-US" sz="3200"/>
              <a:t>Understanding Pager Rotation Duties</a:t>
            </a:r>
          </a:p>
        </p:txBody>
      </p:sp>
      <p:sp>
        <p:nvSpPr>
          <p:cNvPr id="4" name="Content Placeholder 3">
            <a:extLst>
              <a:ext uri="{FF2B5EF4-FFF2-40B4-BE49-F238E27FC236}">
                <a16:creationId xmlns:a16="http://schemas.microsoft.com/office/drawing/2014/main" id="{2D100859-E474-1582-969C-021315932C5E}"/>
              </a:ext>
            </a:extLst>
          </p:cNvPr>
          <p:cNvSpPr>
            <a:spLocks noGrp="1"/>
          </p:cNvSpPr>
          <p:nvPr>
            <p:ph sz="half" idx="2"/>
          </p:nvPr>
        </p:nvSpPr>
        <p:spPr>
          <a:xfrm>
            <a:off x="1141412" y="2249487"/>
            <a:ext cx="4459287" cy="3965046"/>
          </a:xfrm>
        </p:spPr>
        <p:txBody>
          <a:bodyPr vert="horz" lIns="91440" tIns="45720" rIns="91440" bIns="45720" rtlCol="0">
            <a:normAutofit/>
          </a:bodyPr>
          <a:lstStyle/>
          <a:p>
            <a:r>
              <a:rPr lang="en-US" sz="2000"/>
              <a:t>Pager rotation ensures continuous support for incidents.</a:t>
            </a:r>
          </a:p>
          <a:p>
            <a:r>
              <a:rPr lang="en-US" sz="2000"/>
              <a:t>Duties are assigned based on team member availability.</a:t>
            </a:r>
          </a:p>
          <a:p>
            <a:r>
              <a:rPr lang="en-US" sz="2000"/>
              <a:t>Clear guidelines are essential for effective rotations.</a:t>
            </a:r>
          </a:p>
        </p:txBody>
      </p:sp>
      <p:pic>
        <p:nvPicPr>
          <p:cNvPr id="5" name="Content Placeholder 4" descr="blue pda - high resolution of palmtop">
            <a:extLst>
              <a:ext uri="{FF2B5EF4-FFF2-40B4-BE49-F238E27FC236}">
                <a16:creationId xmlns:a16="http://schemas.microsoft.com/office/drawing/2014/main" id="{0B3E71D1-C834-4E0B-8F1F-2FFD7E10FDE2}"/>
              </a:ext>
            </a:extLst>
          </p:cNvPr>
          <p:cNvPicPr>
            <a:picLocks noGrp="1" noChangeAspect="1"/>
          </p:cNvPicPr>
          <p:nvPr>
            <p:ph sz="half" idx="1"/>
          </p:nvPr>
        </p:nvPicPr>
        <p:blipFill>
          <a:blip r:embed="rId5"/>
          <a:stretch>
            <a:fillRect/>
          </a:stretch>
        </p:blipFill>
        <p:spPr>
          <a:xfrm>
            <a:off x="6096000" y="1343139"/>
            <a:ext cx="5456279" cy="4146772"/>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57" name="Group 56">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58"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9"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5"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8"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9"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70"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1"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2"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5"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6"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002016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6"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7"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2"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grpSp>
          <p:nvGrpSpPr>
            <p:cNvPr id="14" name="Group 13">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grpSp>
      <p:sp useBgFill="1">
        <p:nvSpPr>
          <p:cNvPr id="53" name="Rectangle 52">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5"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98E8140-2779-88D7-65CB-8E37EAFFDD64}"/>
              </a:ext>
            </a:extLst>
          </p:cNvPr>
          <p:cNvSpPr>
            <a:spLocks noGrp="1"/>
          </p:cNvSpPr>
          <p:nvPr>
            <p:ph type="title"/>
          </p:nvPr>
        </p:nvSpPr>
        <p:spPr>
          <a:xfrm>
            <a:off x="1141413" y="618518"/>
            <a:ext cx="4459286" cy="1478570"/>
          </a:xfrm>
        </p:spPr>
        <p:txBody>
          <a:bodyPr vert="horz" lIns="91440" tIns="45720" rIns="91440" bIns="45720" rtlCol="0" anchor="ctr">
            <a:normAutofit/>
          </a:bodyPr>
          <a:lstStyle/>
          <a:p>
            <a:r>
              <a:rPr lang="en-US" sz="3200"/>
              <a:t>Benefits of Effective Pager Rotation</a:t>
            </a:r>
          </a:p>
        </p:txBody>
      </p:sp>
      <p:sp>
        <p:nvSpPr>
          <p:cNvPr id="4" name="Content Placeholder 3">
            <a:extLst>
              <a:ext uri="{FF2B5EF4-FFF2-40B4-BE49-F238E27FC236}">
                <a16:creationId xmlns:a16="http://schemas.microsoft.com/office/drawing/2014/main" id="{3CAC1A41-5D93-415B-DF2D-63301569F1E5}"/>
              </a:ext>
            </a:extLst>
          </p:cNvPr>
          <p:cNvSpPr>
            <a:spLocks noGrp="1"/>
          </p:cNvSpPr>
          <p:nvPr>
            <p:ph sz="half" idx="2"/>
          </p:nvPr>
        </p:nvSpPr>
        <p:spPr>
          <a:xfrm>
            <a:off x="1141412" y="2249487"/>
            <a:ext cx="4459287" cy="3965046"/>
          </a:xfrm>
        </p:spPr>
        <p:txBody>
          <a:bodyPr vert="horz" lIns="91440" tIns="45720" rIns="91440" bIns="45720" rtlCol="0">
            <a:normAutofit/>
          </a:bodyPr>
          <a:lstStyle/>
          <a:p>
            <a:r>
              <a:rPr lang="en-US" sz="2000"/>
              <a:t>Reduces burnout among team members.</a:t>
            </a:r>
          </a:p>
          <a:p>
            <a:r>
              <a:rPr lang="en-US" sz="2000"/>
              <a:t>Improves incident response times.</a:t>
            </a:r>
          </a:p>
          <a:p>
            <a:r>
              <a:rPr lang="en-US" sz="2000"/>
              <a:t>Enhances accountability within the team.</a:t>
            </a:r>
          </a:p>
        </p:txBody>
      </p:sp>
      <p:pic>
        <p:nvPicPr>
          <p:cNvPr id="5" name="Content Placeholder 4" descr="Man celebrating in the crowd">
            <a:extLst>
              <a:ext uri="{FF2B5EF4-FFF2-40B4-BE49-F238E27FC236}">
                <a16:creationId xmlns:a16="http://schemas.microsoft.com/office/drawing/2014/main" id="{899465FB-67C1-4EDD-B9D0-FFDBDDA462AA}"/>
              </a:ext>
            </a:extLst>
          </p:cNvPr>
          <p:cNvPicPr>
            <a:picLocks noGrp="1" noChangeAspect="1"/>
          </p:cNvPicPr>
          <p:nvPr>
            <p:ph sz="half" idx="1"/>
          </p:nvPr>
        </p:nvPicPr>
        <p:blipFill>
          <a:blip r:embed="rId5"/>
          <a:stretch>
            <a:fillRect/>
          </a:stretch>
        </p:blipFill>
        <p:spPr>
          <a:xfrm>
            <a:off x="6096000" y="1595492"/>
            <a:ext cx="5456279" cy="3642067"/>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57" name="Group 56">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58"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9"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5"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8"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9"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70"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1"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2"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5"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6"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4097713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6"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7"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2"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grpSp>
          <p:nvGrpSpPr>
            <p:cNvPr id="14" name="Group 13">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grpSp>
      <p:sp useBgFill="1">
        <p:nvSpPr>
          <p:cNvPr id="53" name="Rectangle 52">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5"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7E5D2A3-AE26-7765-4D83-D5108A51CEEE}"/>
              </a:ext>
            </a:extLst>
          </p:cNvPr>
          <p:cNvSpPr>
            <a:spLocks noGrp="1"/>
          </p:cNvSpPr>
          <p:nvPr>
            <p:ph type="title"/>
          </p:nvPr>
        </p:nvSpPr>
        <p:spPr>
          <a:xfrm>
            <a:off x="1141413" y="618518"/>
            <a:ext cx="4459286" cy="1478570"/>
          </a:xfrm>
        </p:spPr>
        <p:txBody>
          <a:bodyPr vert="horz" lIns="91440" tIns="45720" rIns="91440" bIns="45720" rtlCol="0" anchor="ctr">
            <a:normAutofit/>
          </a:bodyPr>
          <a:lstStyle/>
          <a:p>
            <a:r>
              <a:rPr lang="en-US" sz="3200"/>
              <a:t>Best Practices for Setting Up Pager Rotation</a:t>
            </a:r>
          </a:p>
        </p:txBody>
      </p:sp>
      <p:sp>
        <p:nvSpPr>
          <p:cNvPr id="4" name="Content Placeholder 3">
            <a:extLst>
              <a:ext uri="{FF2B5EF4-FFF2-40B4-BE49-F238E27FC236}">
                <a16:creationId xmlns:a16="http://schemas.microsoft.com/office/drawing/2014/main" id="{FD1C262F-6CC0-5136-4CB2-1D9C49D28A69}"/>
              </a:ext>
            </a:extLst>
          </p:cNvPr>
          <p:cNvSpPr>
            <a:spLocks noGrp="1"/>
          </p:cNvSpPr>
          <p:nvPr>
            <p:ph sz="half" idx="2"/>
          </p:nvPr>
        </p:nvSpPr>
        <p:spPr>
          <a:xfrm>
            <a:off x="1141412" y="2249487"/>
            <a:ext cx="4459287" cy="3965046"/>
          </a:xfrm>
        </p:spPr>
        <p:txBody>
          <a:bodyPr vert="horz" lIns="91440" tIns="45720" rIns="91440" bIns="45720" rtlCol="0">
            <a:normAutofit/>
          </a:bodyPr>
          <a:lstStyle/>
          <a:p>
            <a:r>
              <a:rPr lang="en-US" sz="2000"/>
              <a:t>Define clear roles and responsibilities.</a:t>
            </a:r>
          </a:p>
          <a:p>
            <a:r>
              <a:rPr lang="en-US" sz="2000"/>
              <a:t>Communicate schedules in advance.</a:t>
            </a:r>
          </a:p>
          <a:p>
            <a:r>
              <a:rPr lang="en-US" sz="2000"/>
              <a:t>Use tools for efficient management.</a:t>
            </a:r>
          </a:p>
        </p:txBody>
      </p:sp>
      <p:pic>
        <p:nvPicPr>
          <p:cNvPr id="5" name="Content Placeholder 4" descr="A page in a planner">
            <a:extLst>
              <a:ext uri="{FF2B5EF4-FFF2-40B4-BE49-F238E27FC236}">
                <a16:creationId xmlns:a16="http://schemas.microsoft.com/office/drawing/2014/main" id="{1884DC8A-D29B-4466-B4B6-37953172AF95}"/>
              </a:ext>
            </a:extLst>
          </p:cNvPr>
          <p:cNvPicPr>
            <a:picLocks noGrp="1" noChangeAspect="1"/>
          </p:cNvPicPr>
          <p:nvPr>
            <p:ph sz="half" idx="1"/>
          </p:nvPr>
        </p:nvPicPr>
        <p:blipFill>
          <a:blip r:embed="rId5"/>
          <a:stretch>
            <a:fillRect/>
          </a:stretch>
        </p:blipFill>
        <p:spPr>
          <a:xfrm>
            <a:off x="6096000" y="1595492"/>
            <a:ext cx="5456279" cy="3642067"/>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57" name="Group 56">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58"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9"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5"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8"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9"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70"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1"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2"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5"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6"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970254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6"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7"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2"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grpSp>
          <p:nvGrpSpPr>
            <p:cNvPr id="14" name="Group 13">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grpSp>
      <p:sp useBgFill="1">
        <p:nvSpPr>
          <p:cNvPr id="53" name="Rectangle 52">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5"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7942C8A-D532-3E15-983F-D8A53C0BA1D0}"/>
              </a:ext>
            </a:extLst>
          </p:cNvPr>
          <p:cNvSpPr>
            <a:spLocks noGrp="1"/>
          </p:cNvSpPr>
          <p:nvPr>
            <p:ph type="title"/>
          </p:nvPr>
        </p:nvSpPr>
        <p:spPr>
          <a:xfrm>
            <a:off x="1141413" y="618518"/>
            <a:ext cx="4459286" cy="1478570"/>
          </a:xfrm>
        </p:spPr>
        <p:txBody>
          <a:bodyPr vert="horz" lIns="91440" tIns="45720" rIns="91440" bIns="45720" rtlCol="0" anchor="ctr">
            <a:normAutofit/>
          </a:bodyPr>
          <a:lstStyle/>
          <a:p>
            <a:r>
              <a:rPr lang="en-US" sz="3200"/>
              <a:t>Challenges in Pager Rotation</a:t>
            </a:r>
          </a:p>
        </p:txBody>
      </p:sp>
      <p:sp>
        <p:nvSpPr>
          <p:cNvPr id="4" name="Content Placeholder 3">
            <a:extLst>
              <a:ext uri="{FF2B5EF4-FFF2-40B4-BE49-F238E27FC236}">
                <a16:creationId xmlns:a16="http://schemas.microsoft.com/office/drawing/2014/main" id="{4DA05CDC-B363-92FE-D1C9-8D63B943382B}"/>
              </a:ext>
            </a:extLst>
          </p:cNvPr>
          <p:cNvSpPr>
            <a:spLocks noGrp="1"/>
          </p:cNvSpPr>
          <p:nvPr>
            <p:ph sz="half" idx="2"/>
          </p:nvPr>
        </p:nvSpPr>
        <p:spPr>
          <a:xfrm>
            <a:off x="1141412" y="2249487"/>
            <a:ext cx="4459287" cy="3965046"/>
          </a:xfrm>
        </p:spPr>
        <p:txBody>
          <a:bodyPr vert="horz" lIns="91440" tIns="45720" rIns="91440" bIns="45720" rtlCol="0">
            <a:normAutofit/>
          </a:bodyPr>
          <a:lstStyle/>
          <a:p>
            <a:r>
              <a:rPr lang="en-US" sz="2000"/>
              <a:t>Inconsistent communication can lead to confusion.</a:t>
            </a:r>
          </a:p>
          <a:p>
            <a:r>
              <a:rPr lang="en-US" sz="2000"/>
              <a:t>Overlapping responsibilities may arise.</a:t>
            </a:r>
          </a:p>
          <a:p>
            <a:r>
              <a:rPr lang="en-US" sz="2000"/>
              <a:t>Unforeseen circumstances can disrupt schedules.</a:t>
            </a:r>
          </a:p>
        </p:txBody>
      </p:sp>
      <p:pic>
        <p:nvPicPr>
          <p:cNvPr id="5" name="Content Placeholder 4" descr="Close-up under view 5G Telecommunications Base Station Tower on sky background">
            <a:extLst>
              <a:ext uri="{FF2B5EF4-FFF2-40B4-BE49-F238E27FC236}">
                <a16:creationId xmlns:a16="http://schemas.microsoft.com/office/drawing/2014/main" id="{FD1DEDCD-5573-4D8F-8FD8-1910055122BB}"/>
              </a:ext>
            </a:extLst>
          </p:cNvPr>
          <p:cNvPicPr>
            <a:picLocks noGrp="1" noChangeAspect="1"/>
          </p:cNvPicPr>
          <p:nvPr>
            <p:ph sz="half" idx="1"/>
          </p:nvPr>
        </p:nvPicPr>
        <p:blipFill>
          <a:blip r:embed="rId5"/>
          <a:stretch>
            <a:fillRect/>
          </a:stretch>
        </p:blipFill>
        <p:spPr>
          <a:xfrm>
            <a:off x="6096000" y="1595492"/>
            <a:ext cx="5456279" cy="3642066"/>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57" name="Group 56">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58"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9"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5"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8"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9"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70"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1"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2"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5"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6"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3799103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6"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7"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2"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grpSp>
          <p:nvGrpSpPr>
            <p:cNvPr id="14" name="Group 13">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grpSp>
      <p:sp useBgFill="1">
        <p:nvSpPr>
          <p:cNvPr id="53" name="Rectangle 52">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5"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5FD8FD4-576F-C0F5-92DE-BB95A79BDA37}"/>
              </a:ext>
            </a:extLst>
          </p:cNvPr>
          <p:cNvSpPr>
            <a:spLocks noGrp="1"/>
          </p:cNvSpPr>
          <p:nvPr>
            <p:ph type="title"/>
          </p:nvPr>
        </p:nvSpPr>
        <p:spPr>
          <a:xfrm>
            <a:off x="1141413" y="618518"/>
            <a:ext cx="4459286" cy="1478570"/>
          </a:xfrm>
        </p:spPr>
        <p:txBody>
          <a:bodyPr vert="horz" lIns="91440" tIns="45720" rIns="91440" bIns="45720" rtlCol="0" anchor="ctr">
            <a:normAutofit/>
          </a:bodyPr>
          <a:lstStyle/>
          <a:p>
            <a:r>
              <a:rPr lang="en-US" sz="3200"/>
              <a:t>Maintaining Effective Communication</a:t>
            </a:r>
          </a:p>
        </p:txBody>
      </p:sp>
      <p:sp>
        <p:nvSpPr>
          <p:cNvPr id="4" name="Content Placeholder 3">
            <a:extLst>
              <a:ext uri="{FF2B5EF4-FFF2-40B4-BE49-F238E27FC236}">
                <a16:creationId xmlns:a16="http://schemas.microsoft.com/office/drawing/2014/main" id="{3B2FFCE9-06AB-3E52-4F46-D4AF75BBEDCF}"/>
              </a:ext>
            </a:extLst>
          </p:cNvPr>
          <p:cNvSpPr>
            <a:spLocks noGrp="1"/>
          </p:cNvSpPr>
          <p:nvPr>
            <p:ph sz="half" idx="2"/>
          </p:nvPr>
        </p:nvSpPr>
        <p:spPr>
          <a:xfrm>
            <a:off x="1141412" y="2249487"/>
            <a:ext cx="4459287" cy="3965046"/>
          </a:xfrm>
        </p:spPr>
        <p:txBody>
          <a:bodyPr vert="horz" lIns="91440" tIns="45720" rIns="91440" bIns="45720" rtlCol="0">
            <a:normAutofit/>
          </a:bodyPr>
          <a:lstStyle/>
          <a:p>
            <a:r>
              <a:rPr lang="en-US" sz="2000"/>
              <a:t>Regular team meetings for updates.</a:t>
            </a:r>
          </a:p>
          <a:p>
            <a:r>
              <a:rPr lang="en-US" sz="2000"/>
              <a:t>Utilize chat tools for quick communication.</a:t>
            </a:r>
          </a:p>
          <a:p>
            <a:r>
              <a:rPr lang="en-US" sz="2000"/>
              <a:t>Document incidents and responses for future reference.</a:t>
            </a:r>
          </a:p>
        </p:txBody>
      </p:sp>
      <p:pic>
        <p:nvPicPr>
          <p:cNvPr id="5" name="Content Placeholder 4" descr="Business meeting people table">
            <a:extLst>
              <a:ext uri="{FF2B5EF4-FFF2-40B4-BE49-F238E27FC236}">
                <a16:creationId xmlns:a16="http://schemas.microsoft.com/office/drawing/2014/main" id="{A89396BB-5B65-4600-A8FB-5C0FEEA6AF7E}"/>
              </a:ext>
            </a:extLst>
          </p:cNvPr>
          <p:cNvPicPr>
            <a:picLocks noGrp="1" noChangeAspect="1"/>
          </p:cNvPicPr>
          <p:nvPr>
            <p:ph sz="half" idx="1"/>
          </p:nvPr>
        </p:nvPicPr>
        <p:blipFill>
          <a:blip r:embed="rId5"/>
          <a:stretch>
            <a:fillRect/>
          </a:stretch>
        </p:blipFill>
        <p:spPr>
          <a:xfrm>
            <a:off x="6096000" y="1370421"/>
            <a:ext cx="5456279" cy="409220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57" name="Group 56">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58"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9"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5"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8"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9"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70"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1"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2"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5"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6"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4164061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6"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7"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2"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grpSp>
          <p:nvGrpSpPr>
            <p:cNvPr id="14" name="Group 13">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grpSp>
      <p:sp useBgFill="1">
        <p:nvSpPr>
          <p:cNvPr id="53" name="Rectangle 52">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5"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C3E3160-2D5A-22F2-DA8D-D2741FD21440}"/>
              </a:ext>
            </a:extLst>
          </p:cNvPr>
          <p:cNvSpPr>
            <a:spLocks noGrp="1"/>
          </p:cNvSpPr>
          <p:nvPr>
            <p:ph type="title"/>
          </p:nvPr>
        </p:nvSpPr>
        <p:spPr>
          <a:xfrm>
            <a:off x="1141413" y="618518"/>
            <a:ext cx="4459286" cy="1478570"/>
          </a:xfrm>
        </p:spPr>
        <p:txBody>
          <a:bodyPr vert="horz" lIns="91440" tIns="45720" rIns="91440" bIns="45720" rtlCol="0" anchor="ctr">
            <a:normAutofit/>
          </a:bodyPr>
          <a:lstStyle/>
          <a:p>
            <a:r>
              <a:rPr lang="en-US" sz="3200"/>
              <a:t>Evaluating and Improving the System</a:t>
            </a:r>
          </a:p>
        </p:txBody>
      </p:sp>
      <p:sp>
        <p:nvSpPr>
          <p:cNvPr id="4" name="Content Placeholder 3">
            <a:extLst>
              <a:ext uri="{FF2B5EF4-FFF2-40B4-BE49-F238E27FC236}">
                <a16:creationId xmlns:a16="http://schemas.microsoft.com/office/drawing/2014/main" id="{5D544CAD-5967-A0B6-352D-E49784B21E1B}"/>
              </a:ext>
            </a:extLst>
          </p:cNvPr>
          <p:cNvSpPr>
            <a:spLocks noGrp="1"/>
          </p:cNvSpPr>
          <p:nvPr>
            <p:ph sz="half" idx="2"/>
          </p:nvPr>
        </p:nvSpPr>
        <p:spPr>
          <a:xfrm>
            <a:off x="1141412" y="2249487"/>
            <a:ext cx="4459287" cy="3965046"/>
          </a:xfrm>
        </p:spPr>
        <p:txBody>
          <a:bodyPr vert="horz" lIns="91440" tIns="45720" rIns="91440" bIns="45720" rtlCol="0">
            <a:normAutofit/>
          </a:bodyPr>
          <a:lstStyle/>
          <a:p>
            <a:r>
              <a:rPr lang="en-US" sz="2000"/>
              <a:t>Collect feedback from team members.</a:t>
            </a:r>
          </a:p>
          <a:p>
            <a:r>
              <a:rPr lang="en-US" sz="2000"/>
              <a:t>Analyze incident response times.</a:t>
            </a:r>
          </a:p>
          <a:p>
            <a:r>
              <a:rPr lang="en-US" sz="2000"/>
              <a:t>Adjust rotations based on lessons learned.</a:t>
            </a:r>
          </a:p>
        </p:txBody>
      </p:sp>
      <p:pic>
        <p:nvPicPr>
          <p:cNvPr id="5" name="Content Placeholder 4" descr="Educative collection">
            <a:extLst>
              <a:ext uri="{FF2B5EF4-FFF2-40B4-BE49-F238E27FC236}">
                <a16:creationId xmlns:a16="http://schemas.microsoft.com/office/drawing/2014/main" id="{C8829AEA-7AA4-4CBF-BECF-E031E98B94FC}"/>
              </a:ext>
            </a:extLst>
          </p:cNvPr>
          <p:cNvPicPr>
            <a:picLocks noGrp="1" noChangeAspect="1"/>
          </p:cNvPicPr>
          <p:nvPr>
            <p:ph sz="half" idx="1"/>
          </p:nvPr>
        </p:nvPicPr>
        <p:blipFill>
          <a:blip r:embed="rId5"/>
          <a:stretch>
            <a:fillRect/>
          </a:stretch>
        </p:blipFill>
        <p:spPr>
          <a:xfrm>
            <a:off x="6096000" y="1711438"/>
            <a:ext cx="5456279" cy="3410174"/>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57" name="Group 56">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58"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9"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5"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8"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9"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70"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1"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2"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5"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6"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525666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88000"/>
                <a:hueMod val="106000"/>
                <a:satMod val="140000"/>
                <a:lumMod val="54000"/>
              </a:schemeClr>
              <a:schemeClr val="bg2">
                <a:tint val="98000"/>
                <a:hueMod val="90000"/>
                <a:satMod val="150000"/>
                <a:lumMod val="160000"/>
              </a:schemeClr>
            </a:duotone>
          </a:blip>
          <a:stretch/>
        </a:blipFill>
        <a:effectLst/>
      </p:bgPr>
    </p:bg>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5FF7B57D-FF7B-48B3-9F60-9BCEEECF9E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grpSp>
        <p:nvGrpSpPr>
          <p:cNvPr id="12" name="Group 11">
            <a:extLst>
              <a:ext uri="{FF2B5EF4-FFF2-40B4-BE49-F238E27FC236}">
                <a16:creationId xmlns:a16="http://schemas.microsoft.com/office/drawing/2014/main" id="{EB95AFDF-FA7D-4311-9C65-6D507D92F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3" name="Group 12">
              <a:extLst>
                <a:ext uri="{FF2B5EF4-FFF2-40B4-BE49-F238E27FC236}">
                  <a16:creationId xmlns:a16="http://schemas.microsoft.com/office/drawing/2014/main" id="{9A5CCD98-20C1-4404-B788-FDA92F8A440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5" name="Rectangle 5">
                <a:extLst>
                  <a:ext uri="{FF2B5EF4-FFF2-40B4-BE49-F238E27FC236}">
                    <a16:creationId xmlns:a16="http://schemas.microsoft.com/office/drawing/2014/main" id="{C1424C76-B5C3-468E-86FA-8D9B269053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26" name="Freeform 6">
                <a:extLst>
                  <a:ext uri="{FF2B5EF4-FFF2-40B4-BE49-F238E27FC236}">
                    <a16:creationId xmlns:a16="http://schemas.microsoft.com/office/drawing/2014/main" id="{B3922267-72C9-403B-A6DE-7D0A43D554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7">
                <a:extLst>
                  <a:ext uri="{FF2B5EF4-FFF2-40B4-BE49-F238E27FC236}">
                    <a16:creationId xmlns:a16="http://schemas.microsoft.com/office/drawing/2014/main" id="{7276DB68-2E8D-4723-852B-7476DD38FED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8">
                <a:extLst>
                  <a:ext uri="{FF2B5EF4-FFF2-40B4-BE49-F238E27FC236}">
                    <a16:creationId xmlns:a16="http://schemas.microsoft.com/office/drawing/2014/main" id="{0A155711-4993-4D1E-89EA-A397C164F0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9">
                <a:extLst>
                  <a:ext uri="{FF2B5EF4-FFF2-40B4-BE49-F238E27FC236}">
                    <a16:creationId xmlns:a16="http://schemas.microsoft.com/office/drawing/2014/main" id="{2AB42136-2551-4CAA-857F-65FA3247B49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10">
                <a:extLst>
                  <a:ext uri="{FF2B5EF4-FFF2-40B4-BE49-F238E27FC236}">
                    <a16:creationId xmlns:a16="http://schemas.microsoft.com/office/drawing/2014/main" id="{7C2ADEA1-EA3E-4C0E-A28E-460092F7FF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11">
                <a:extLst>
                  <a:ext uri="{FF2B5EF4-FFF2-40B4-BE49-F238E27FC236}">
                    <a16:creationId xmlns:a16="http://schemas.microsoft.com/office/drawing/2014/main" id="{B04584B3-081C-4286-A840-AB5B16B10A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12">
                <a:extLst>
                  <a:ext uri="{FF2B5EF4-FFF2-40B4-BE49-F238E27FC236}">
                    <a16:creationId xmlns:a16="http://schemas.microsoft.com/office/drawing/2014/main" id="{3AB388FD-C246-4936-A041-E0413A1329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13">
                <a:extLst>
                  <a:ext uri="{FF2B5EF4-FFF2-40B4-BE49-F238E27FC236}">
                    <a16:creationId xmlns:a16="http://schemas.microsoft.com/office/drawing/2014/main" id="{57692343-2D12-4F57-836C-945D407B68B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14">
                <a:extLst>
                  <a:ext uri="{FF2B5EF4-FFF2-40B4-BE49-F238E27FC236}">
                    <a16:creationId xmlns:a16="http://schemas.microsoft.com/office/drawing/2014/main" id="{062EE710-0210-4840-8698-E0DF1C617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15">
                <a:extLst>
                  <a:ext uri="{FF2B5EF4-FFF2-40B4-BE49-F238E27FC236}">
                    <a16:creationId xmlns:a16="http://schemas.microsoft.com/office/drawing/2014/main" id="{161892F4-6071-40CD-8E18-CDEE0C91B5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Line 16">
                <a:extLst>
                  <a:ext uri="{FF2B5EF4-FFF2-40B4-BE49-F238E27FC236}">
                    <a16:creationId xmlns:a16="http://schemas.microsoft.com/office/drawing/2014/main" id="{3E6BBE44-8D88-407D-B1C6-10C89DD6173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7" name="Freeform 17">
                <a:extLst>
                  <a:ext uri="{FF2B5EF4-FFF2-40B4-BE49-F238E27FC236}">
                    <a16:creationId xmlns:a16="http://schemas.microsoft.com/office/drawing/2014/main" id="{1E90AE6E-328E-4730-825C-B5130F5CFC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18">
                <a:extLst>
                  <a:ext uri="{FF2B5EF4-FFF2-40B4-BE49-F238E27FC236}">
                    <a16:creationId xmlns:a16="http://schemas.microsoft.com/office/drawing/2014/main" id="{24EC969F-6E4A-4163-ABDA-4674429A3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19">
                <a:extLst>
                  <a:ext uri="{FF2B5EF4-FFF2-40B4-BE49-F238E27FC236}">
                    <a16:creationId xmlns:a16="http://schemas.microsoft.com/office/drawing/2014/main" id="{1B735C94-B049-42C6-9DEF-5DB70D58CE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20">
                <a:extLst>
                  <a:ext uri="{FF2B5EF4-FFF2-40B4-BE49-F238E27FC236}">
                    <a16:creationId xmlns:a16="http://schemas.microsoft.com/office/drawing/2014/main" id="{051C02E6-1954-478B-AEAE-BF8F36BE941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Rectangle 21">
                <a:extLst>
                  <a:ext uri="{FF2B5EF4-FFF2-40B4-BE49-F238E27FC236}">
                    <a16:creationId xmlns:a16="http://schemas.microsoft.com/office/drawing/2014/main" id="{6710B1C0-310A-48D0-B824-459D9AFC2FB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42" name="Freeform 22">
                <a:extLst>
                  <a:ext uri="{FF2B5EF4-FFF2-40B4-BE49-F238E27FC236}">
                    <a16:creationId xmlns:a16="http://schemas.microsoft.com/office/drawing/2014/main" id="{1204A606-D9A6-4DC6-9F0E-D516EA1EB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23">
                <a:extLst>
                  <a:ext uri="{FF2B5EF4-FFF2-40B4-BE49-F238E27FC236}">
                    <a16:creationId xmlns:a16="http://schemas.microsoft.com/office/drawing/2014/main" id="{EE569555-0243-4979-A537-C9B4AFD5F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4" name="Freeform 24">
                <a:extLst>
                  <a:ext uri="{FF2B5EF4-FFF2-40B4-BE49-F238E27FC236}">
                    <a16:creationId xmlns:a16="http://schemas.microsoft.com/office/drawing/2014/main" id="{D52A977D-4993-48AF-A792-F2DE096391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5" name="Freeform 25">
                <a:extLst>
                  <a:ext uri="{FF2B5EF4-FFF2-40B4-BE49-F238E27FC236}">
                    <a16:creationId xmlns:a16="http://schemas.microsoft.com/office/drawing/2014/main" id="{93CFF2DC-E52E-4D99-97D5-B0D7B792E50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6" name="Freeform 26">
                <a:extLst>
                  <a:ext uri="{FF2B5EF4-FFF2-40B4-BE49-F238E27FC236}">
                    <a16:creationId xmlns:a16="http://schemas.microsoft.com/office/drawing/2014/main" id="{5E175372-AF09-42A7-B3D0-226C83489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7" name="Freeform 27">
                <a:extLst>
                  <a:ext uri="{FF2B5EF4-FFF2-40B4-BE49-F238E27FC236}">
                    <a16:creationId xmlns:a16="http://schemas.microsoft.com/office/drawing/2014/main" id="{ABF20BA9-F4B2-49EA-A573-578B18977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8" name="Freeform 28">
                <a:extLst>
                  <a:ext uri="{FF2B5EF4-FFF2-40B4-BE49-F238E27FC236}">
                    <a16:creationId xmlns:a16="http://schemas.microsoft.com/office/drawing/2014/main" id="{AA3A7A4B-C811-4E23-8BFD-5823A032DA3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9" name="Freeform 29">
                <a:extLst>
                  <a:ext uri="{FF2B5EF4-FFF2-40B4-BE49-F238E27FC236}">
                    <a16:creationId xmlns:a16="http://schemas.microsoft.com/office/drawing/2014/main" id="{47537781-F057-4B97-AD8F-12FE9BE599A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0" name="Freeform 30">
                <a:extLst>
                  <a:ext uri="{FF2B5EF4-FFF2-40B4-BE49-F238E27FC236}">
                    <a16:creationId xmlns:a16="http://schemas.microsoft.com/office/drawing/2014/main" id="{078883C7-EB52-4BB7-A9A7-F8C046A833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51" name="Freeform 31">
                <a:extLst>
                  <a:ext uri="{FF2B5EF4-FFF2-40B4-BE49-F238E27FC236}">
                    <a16:creationId xmlns:a16="http://schemas.microsoft.com/office/drawing/2014/main" id="{63CCBBF8-5972-4ED3-AB5B-46DC425B177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grpSp>
          <p:nvGrpSpPr>
            <p:cNvPr id="14" name="Group 13">
              <a:extLst>
                <a:ext uri="{FF2B5EF4-FFF2-40B4-BE49-F238E27FC236}">
                  <a16:creationId xmlns:a16="http://schemas.microsoft.com/office/drawing/2014/main" id="{A8C19883-37FB-437C-A3AA-89AA6239D3A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5" name="Freeform 32">
                <a:extLst>
                  <a:ext uri="{FF2B5EF4-FFF2-40B4-BE49-F238E27FC236}">
                    <a16:creationId xmlns:a16="http://schemas.microsoft.com/office/drawing/2014/main" id="{AF1753DD-4CEF-45EC-B952-90EA8895D7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6" name="Freeform 33">
                <a:extLst>
                  <a:ext uri="{FF2B5EF4-FFF2-40B4-BE49-F238E27FC236}">
                    <a16:creationId xmlns:a16="http://schemas.microsoft.com/office/drawing/2014/main" id="{5B9356DB-C1BE-4D76-8FA7-4FBAA12D1D3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34">
                <a:extLst>
                  <a:ext uri="{FF2B5EF4-FFF2-40B4-BE49-F238E27FC236}">
                    <a16:creationId xmlns:a16="http://schemas.microsoft.com/office/drawing/2014/main" id="{C4F59561-572D-42BA-A6FD-F3AFA1A394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35">
                <a:extLst>
                  <a:ext uri="{FF2B5EF4-FFF2-40B4-BE49-F238E27FC236}">
                    <a16:creationId xmlns:a16="http://schemas.microsoft.com/office/drawing/2014/main" id="{BB7A51A1-D509-4494-BAE2-1B96CAD4D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36">
                <a:extLst>
                  <a:ext uri="{FF2B5EF4-FFF2-40B4-BE49-F238E27FC236}">
                    <a16:creationId xmlns:a16="http://schemas.microsoft.com/office/drawing/2014/main" id="{D3FE0B5A-55DE-4E56-8E9B-B92D1DB9A8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37">
                <a:extLst>
                  <a:ext uri="{FF2B5EF4-FFF2-40B4-BE49-F238E27FC236}">
                    <a16:creationId xmlns:a16="http://schemas.microsoft.com/office/drawing/2014/main" id="{F125661C-3A0E-4B6E-B2AB-1B08C89251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38">
                <a:extLst>
                  <a:ext uri="{FF2B5EF4-FFF2-40B4-BE49-F238E27FC236}">
                    <a16:creationId xmlns:a16="http://schemas.microsoft.com/office/drawing/2014/main" id="{39304006-EE77-438A-A0D1-537322356C1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39">
                <a:extLst>
                  <a:ext uri="{FF2B5EF4-FFF2-40B4-BE49-F238E27FC236}">
                    <a16:creationId xmlns:a16="http://schemas.microsoft.com/office/drawing/2014/main" id="{C6031DEB-4109-4049-82CF-DD06483A2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40">
                <a:extLst>
                  <a:ext uri="{FF2B5EF4-FFF2-40B4-BE49-F238E27FC236}">
                    <a16:creationId xmlns:a16="http://schemas.microsoft.com/office/drawing/2014/main" id="{65FC2657-18D6-4490-88D6-32E6B1C6FB1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Rectangle 41">
                <a:extLst>
                  <a:ext uri="{FF2B5EF4-FFF2-40B4-BE49-F238E27FC236}">
                    <a16:creationId xmlns:a16="http://schemas.microsoft.com/office/drawing/2014/main" id="{20BEA03B-3EAD-4FA2-BC9D-25A14D635CF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grpSp>
      </p:grpSp>
      <p:sp useBgFill="1">
        <p:nvSpPr>
          <p:cNvPr id="53" name="Rectangle 52">
            <a:extLst>
              <a:ext uri="{FF2B5EF4-FFF2-40B4-BE49-F238E27FC236}">
                <a16:creationId xmlns:a16="http://schemas.microsoft.com/office/drawing/2014/main" id="{C2E4E997-8672-4FFD-B8EC-9932A8E471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55" name="Picture 2">
            <a:extLst>
              <a:ext uri="{FF2B5EF4-FFF2-40B4-BE49-F238E27FC236}">
                <a16:creationId xmlns:a16="http://schemas.microsoft.com/office/drawing/2014/main" id="{FE6BA9E6-1D9E-4D30-B528-D49FA1342E4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mt="3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2CBE0BD-E795-01E3-A70D-09D00B89404F}"/>
              </a:ext>
            </a:extLst>
          </p:cNvPr>
          <p:cNvSpPr>
            <a:spLocks noGrp="1"/>
          </p:cNvSpPr>
          <p:nvPr>
            <p:ph type="title"/>
          </p:nvPr>
        </p:nvSpPr>
        <p:spPr>
          <a:xfrm>
            <a:off x="1141413" y="618518"/>
            <a:ext cx="4459286" cy="1478570"/>
          </a:xfrm>
        </p:spPr>
        <p:txBody>
          <a:bodyPr vert="horz" lIns="91440" tIns="45720" rIns="91440" bIns="45720" rtlCol="0" anchor="ctr">
            <a:normAutofit/>
          </a:bodyPr>
          <a:lstStyle/>
          <a:p>
            <a:r>
              <a:rPr lang="en-US" sz="3200"/>
              <a:t>Conclusion: The Importance of Pager Rotation</a:t>
            </a:r>
          </a:p>
        </p:txBody>
      </p:sp>
      <p:sp>
        <p:nvSpPr>
          <p:cNvPr id="4" name="Content Placeholder 3">
            <a:extLst>
              <a:ext uri="{FF2B5EF4-FFF2-40B4-BE49-F238E27FC236}">
                <a16:creationId xmlns:a16="http://schemas.microsoft.com/office/drawing/2014/main" id="{7B2F6DF3-0107-8FBB-103F-AF41F5B6A8C8}"/>
              </a:ext>
            </a:extLst>
          </p:cNvPr>
          <p:cNvSpPr>
            <a:spLocks noGrp="1"/>
          </p:cNvSpPr>
          <p:nvPr>
            <p:ph sz="half" idx="2"/>
          </p:nvPr>
        </p:nvSpPr>
        <p:spPr>
          <a:xfrm>
            <a:off x="1141412" y="2249487"/>
            <a:ext cx="4459287" cy="3965046"/>
          </a:xfrm>
        </p:spPr>
        <p:txBody>
          <a:bodyPr vert="horz" lIns="91440" tIns="45720" rIns="91440" bIns="45720" rtlCol="0">
            <a:normAutofit/>
          </a:bodyPr>
          <a:lstStyle/>
          <a:p>
            <a:r>
              <a:rPr lang="en-US" sz="2000"/>
              <a:t>Critical for operational success.</a:t>
            </a:r>
          </a:p>
          <a:p>
            <a:r>
              <a:rPr lang="en-US" sz="2000"/>
              <a:t>Enhances team morale and efficiency.</a:t>
            </a:r>
          </a:p>
          <a:p>
            <a:r>
              <a:rPr lang="en-US" sz="2000"/>
              <a:t>Requires ongoing adjustments and communication.</a:t>
            </a:r>
          </a:p>
        </p:txBody>
      </p:sp>
      <p:pic>
        <p:nvPicPr>
          <p:cNvPr id="5" name="Content Placeholder 4" descr="Business people giving thumbs up">
            <a:extLst>
              <a:ext uri="{FF2B5EF4-FFF2-40B4-BE49-F238E27FC236}">
                <a16:creationId xmlns:a16="http://schemas.microsoft.com/office/drawing/2014/main" id="{DE8666B3-F7F0-46D4-B396-F35C0D68A4DE}"/>
              </a:ext>
            </a:extLst>
          </p:cNvPr>
          <p:cNvPicPr>
            <a:picLocks noGrp="1" noChangeAspect="1"/>
          </p:cNvPicPr>
          <p:nvPr>
            <p:ph sz="half" idx="1"/>
          </p:nvPr>
        </p:nvPicPr>
        <p:blipFill>
          <a:blip r:embed="rId5"/>
          <a:stretch>
            <a:fillRect/>
          </a:stretch>
        </p:blipFill>
        <p:spPr>
          <a:xfrm>
            <a:off x="6096000" y="1670516"/>
            <a:ext cx="5456279" cy="3492018"/>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pic>
      <p:grpSp>
        <p:nvGrpSpPr>
          <p:cNvPr id="57" name="Group 56">
            <a:extLst>
              <a:ext uri="{FF2B5EF4-FFF2-40B4-BE49-F238E27FC236}">
                <a16:creationId xmlns:a16="http://schemas.microsoft.com/office/drawing/2014/main" id="{453E4DEE-E996-40F8-8635-0FF43D734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58" name="Rectangle 5">
              <a:extLst>
                <a:ext uri="{FF2B5EF4-FFF2-40B4-BE49-F238E27FC236}">
                  <a16:creationId xmlns:a16="http://schemas.microsoft.com/office/drawing/2014/main" id="{08BD1D3E-43CE-49EB-A424-0738950C64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59" name="Freeform 6">
              <a:extLst>
                <a:ext uri="{FF2B5EF4-FFF2-40B4-BE49-F238E27FC236}">
                  <a16:creationId xmlns:a16="http://schemas.microsoft.com/office/drawing/2014/main" id="{E9182037-E3FA-489A-95D5-29E4248420D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0" name="Freeform 7">
              <a:extLst>
                <a:ext uri="{FF2B5EF4-FFF2-40B4-BE49-F238E27FC236}">
                  <a16:creationId xmlns:a16="http://schemas.microsoft.com/office/drawing/2014/main" id="{E8864E76-AD7F-4BEE-B3F6-A78FA42AEFA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1" name="Freeform 8">
              <a:extLst>
                <a:ext uri="{FF2B5EF4-FFF2-40B4-BE49-F238E27FC236}">
                  <a16:creationId xmlns:a16="http://schemas.microsoft.com/office/drawing/2014/main" id="{8AD071B3-046D-4479-91FE-01E9AD7C8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2" name="Freeform 9">
              <a:extLst>
                <a:ext uri="{FF2B5EF4-FFF2-40B4-BE49-F238E27FC236}">
                  <a16:creationId xmlns:a16="http://schemas.microsoft.com/office/drawing/2014/main" id="{91D776F5-E902-4A4D-A75D-A46E063C9F3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3" name="Freeform 10">
              <a:extLst>
                <a:ext uri="{FF2B5EF4-FFF2-40B4-BE49-F238E27FC236}">
                  <a16:creationId xmlns:a16="http://schemas.microsoft.com/office/drawing/2014/main" id="{EBED8F24-A998-4952-AB68-E2074F0746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4" name="Freeform 11">
              <a:extLst>
                <a:ext uri="{FF2B5EF4-FFF2-40B4-BE49-F238E27FC236}">
                  <a16:creationId xmlns:a16="http://schemas.microsoft.com/office/drawing/2014/main" id="{74D7A646-8CDC-49B3-9C44-3EF38DB42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5" name="Freeform 12">
              <a:extLst>
                <a:ext uri="{FF2B5EF4-FFF2-40B4-BE49-F238E27FC236}">
                  <a16:creationId xmlns:a16="http://schemas.microsoft.com/office/drawing/2014/main" id="{D4E99D14-E4F4-419B-9AAF-8D1CEAB28A2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6" name="Freeform 13">
              <a:extLst>
                <a:ext uri="{FF2B5EF4-FFF2-40B4-BE49-F238E27FC236}">
                  <a16:creationId xmlns:a16="http://schemas.microsoft.com/office/drawing/2014/main" id="{377E106C-5445-4A52-9F7E-DA173874429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7" name="Freeform 14">
              <a:extLst>
                <a:ext uri="{FF2B5EF4-FFF2-40B4-BE49-F238E27FC236}">
                  <a16:creationId xmlns:a16="http://schemas.microsoft.com/office/drawing/2014/main" id="{752BFE96-D378-4BAE-A64B-F851A34C4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8" name="Freeform 15">
              <a:extLst>
                <a:ext uri="{FF2B5EF4-FFF2-40B4-BE49-F238E27FC236}">
                  <a16:creationId xmlns:a16="http://schemas.microsoft.com/office/drawing/2014/main" id="{B88FFB19-5A5E-4078-B467-9D4ABD21BD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69" name="Line 16">
              <a:extLst>
                <a:ext uri="{FF2B5EF4-FFF2-40B4-BE49-F238E27FC236}">
                  <a16:creationId xmlns:a16="http://schemas.microsoft.com/office/drawing/2014/main" id="{11042975-3D19-4728-BCDA-D3F5CD633ED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70" name="Freeform 17">
              <a:extLst>
                <a:ext uri="{FF2B5EF4-FFF2-40B4-BE49-F238E27FC236}">
                  <a16:creationId xmlns:a16="http://schemas.microsoft.com/office/drawing/2014/main" id="{A28972BD-D2E1-4DCA-A907-2E3B6F6066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1" name="Freeform 18">
              <a:extLst>
                <a:ext uri="{FF2B5EF4-FFF2-40B4-BE49-F238E27FC236}">
                  <a16:creationId xmlns:a16="http://schemas.microsoft.com/office/drawing/2014/main" id="{1C806824-5C2D-4747-B038-69EE4074B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2" name="Freeform 19">
              <a:extLst>
                <a:ext uri="{FF2B5EF4-FFF2-40B4-BE49-F238E27FC236}">
                  <a16:creationId xmlns:a16="http://schemas.microsoft.com/office/drawing/2014/main" id="{3B33F710-16D7-4F48-BFCA-66C9CA2352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3" name="Freeform 20">
              <a:extLst>
                <a:ext uri="{FF2B5EF4-FFF2-40B4-BE49-F238E27FC236}">
                  <a16:creationId xmlns:a16="http://schemas.microsoft.com/office/drawing/2014/main" id="{6C8C8ED4-90FA-4E97-AAF0-D5D51E6A935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4" name="Rectangle 21">
              <a:extLst>
                <a:ext uri="{FF2B5EF4-FFF2-40B4-BE49-F238E27FC236}">
                  <a16:creationId xmlns:a16="http://schemas.microsoft.com/office/drawing/2014/main" id="{6C5EB9C1-B25F-4172-8A96-5950ECC828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75" name="Freeform 22">
              <a:extLst>
                <a:ext uri="{FF2B5EF4-FFF2-40B4-BE49-F238E27FC236}">
                  <a16:creationId xmlns:a16="http://schemas.microsoft.com/office/drawing/2014/main" id="{097E6E8A-9373-4655-882B-21715CCE97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6" name="Freeform 23">
              <a:extLst>
                <a:ext uri="{FF2B5EF4-FFF2-40B4-BE49-F238E27FC236}">
                  <a16:creationId xmlns:a16="http://schemas.microsoft.com/office/drawing/2014/main" id="{EB8CC766-1206-4372-ACAF-8230AF4D542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7" name="Freeform 24">
              <a:extLst>
                <a:ext uri="{FF2B5EF4-FFF2-40B4-BE49-F238E27FC236}">
                  <a16:creationId xmlns:a16="http://schemas.microsoft.com/office/drawing/2014/main" id="{1C8E2511-2489-47B2-9C19-C410910DD9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8" name="Freeform 25">
              <a:extLst>
                <a:ext uri="{FF2B5EF4-FFF2-40B4-BE49-F238E27FC236}">
                  <a16:creationId xmlns:a16="http://schemas.microsoft.com/office/drawing/2014/main" id="{D7820196-0A47-47EF-832C-A688E8977D6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79" name="Freeform 26">
              <a:extLst>
                <a:ext uri="{FF2B5EF4-FFF2-40B4-BE49-F238E27FC236}">
                  <a16:creationId xmlns:a16="http://schemas.microsoft.com/office/drawing/2014/main" id="{4982E0BF-34AE-48A3-AD6B-E0F3CD05DB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0" name="Freeform 27">
              <a:extLst>
                <a:ext uri="{FF2B5EF4-FFF2-40B4-BE49-F238E27FC236}">
                  <a16:creationId xmlns:a16="http://schemas.microsoft.com/office/drawing/2014/main" id="{CD34643B-9DF2-4310-8868-48252C339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1" name="Freeform 28">
              <a:extLst>
                <a:ext uri="{FF2B5EF4-FFF2-40B4-BE49-F238E27FC236}">
                  <a16:creationId xmlns:a16="http://schemas.microsoft.com/office/drawing/2014/main" id="{4E020C4E-AF64-44A8-B830-779541D8D54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2" name="Freeform 29">
              <a:extLst>
                <a:ext uri="{FF2B5EF4-FFF2-40B4-BE49-F238E27FC236}">
                  <a16:creationId xmlns:a16="http://schemas.microsoft.com/office/drawing/2014/main" id="{D97BC3D3-B1B3-4825-9169-BBEF1DBCF05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3" name="Freeform 30">
              <a:extLst>
                <a:ext uri="{FF2B5EF4-FFF2-40B4-BE49-F238E27FC236}">
                  <a16:creationId xmlns:a16="http://schemas.microsoft.com/office/drawing/2014/main" id="{A750DC4F-1DAF-470E-98C6-6C68DEB933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84" name="Freeform 31">
              <a:extLst>
                <a:ext uri="{FF2B5EF4-FFF2-40B4-BE49-F238E27FC236}">
                  <a16:creationId xmlns:a16="http://schemas.microsoft.com/office/drawing/2014/main" id="{2F99594A-5BBD-4E10-A818-8BE52B7D952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dec="http://schemas.microsoft.com/office/drawing/2017/decorative" xmlns:p16="http://schemas.microsoft.com/office/powerpoint/2015/main"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26570022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E096F0E7-E7B5-406E-8E94-F0043B2AC7F6}">
  <ds:schemaRefs>
    <ds:schemaRef ds:uri="http://schemas.microsoft.com/sharepoint/v3/contenttype/forms"/>
  </ds:schemaRefs>
</ds:datastoreItem>
</file>

<file path=customXml/itemProps2.xml><?xml version="1.0" encoding="utf-8"?>
<ds:datastoreItem xmlns:ds="http://schemas.openxmlformats.org/officeDocument/2006/customXml" ds:itemID="{104C6BCC-A38B-4625-90E6-7D3BBA3909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C41CBB0-BAA0-4983-8F2B-E10AF3358DA8}">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Circuit design</Template>
  <TotalTime>2</TotalTime>
  <Words>521</Words>
  <Application>Microsoft Office PowerPoint</Application>
  <PresentationFormat>Widescreen</PresentationFormat>
  <Paragraphs>46</Paragraphs>
  <Slides>8</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Tw Cen MT</vt:lpstr>
      <vt:lpstr>Circuit</vt:lpstr>
      <vt:lpstr>pager rotation duties</vt:lpstr>
      <vt:lpstr>Understanding Pager Rotation Duties</vt:lpstr>
      <vt:lpstr>Benefits of Effective Pager Rotation</vt:lpstr>
      <vt:lpstr>Best Practices for Setting Up Pager Rotation</vt:lpstr>
      <vt:lpstr>Challenges in Pager Rotation</vt:lpstr>
      <vt:lpstr>Maintaining Effective Communication</vt:lpstr>
      <vt:lpstr>Evaluating and Improving the System</vt:lpstr>
      <vt:lpstr>Conclusion: The Importance of Pager Rotation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Cannamela</dc:creator>
  <cp:lastModifiedBy>Jacob Cannamela</cp:lastModifiedBy>
  <cp:revision>1</cp:revision>
  <dcterms:created xsi:type="dcterms:W3CDTF">2025-07-04T19:23:05Z</dcterms:created>
  <dcterms:modified xsi:type="dcterms:W3CDTF">2025-07-04T19:25:45Z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